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B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503920" y="0"/>
            <a:ext cx="3685032" cy="6858000"/>
          </a:xfrm>
          <a:prstGeom prst="rect">
            <a:avLst/>
          </a:prstGeom>
          <a:solidFill>
            <a:srgbClr val="19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640080"/>
            <a:ext cx="7223760" cy="36576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300" b="1">
                <a:solidFill>
                  <a:srgbClr val="6ACDCB"/>
                </a:solidFill>
                <a:latin typeface="Aptos"/>
              </a:defRPr>
            </a:pPr>
            <a:r>
              <a:t>DEEP LEARNING • SEMESTER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417320"/>
            <a:ext cx="7498079" cy="91440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4200" b="1">
                <a:solidFill>
                  <a:srgbClr val="F8FAFC"/>
                </a:solidFill>
                <a:latin typeface="Aptos"/>
              </a:defRPr>
            </a:pPr>
            <a:r>
              <a:t>SkinSight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2395728"/>
            <a:ext cx="6858000" cy="7315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2300" b="0">
                <a:solidFill>
                  <a:srgbClr val="E0E9F2"/>
                </a:solidFill>
                <a:latin typeface="Aptos"/>
              </a:defRPr>
            </a:pPr>
            <a:r>
              <a:t>Deep Learning-Based Skin Lesion</a:t>
            </a:r>
            <a:br/>
            <a:r>
              <a:t>Image Classification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749039"/>
            <a:ext cx="6583680" cy="105156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700" b="0">
                <a:solidFill>
                  <a:srgbClr val="F8FAFC"/>
                </a:solidFill>
                <a:latin typeface="Aptos"/>
              </a:defRPr>
            </a:pPr>
            <a:r>
              <a:t>Abdul Saboor</a:t>
            </a:r>
            <a:br/>
            <a:r>
              <a:t>BS Computer Science • 7th Semester</a:t>
            </a:r>
            <a:br/>
            <a:r>
              <a:t>Roll No: SU92-BSCSM-F23-216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074920"/>
            <a:ext cx="6766560" cy="54864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300" b="0">
                <a:solidFill>
                  <a:srgbClr val="A6B6C7"/>
                </a:solidFill>
                <a:latin typeface="Aptos"/>
              </a:defRPr>
            </a:pPr>
            <a:r>
              <a:t>Submitted to: Dr Munir Ahmad</a:t>
            </a:r>
            <a:br/>
            <a:r>
              <a:t>Superior University • Computer Science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15400" y="1234440"/>
            <a:ext cx="2651760" cy="54864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>
              <a:defRPr sz="4200" b="1">
                <a:solidFill>
                  <a:srgbClr val="20A19D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0" y="2148840"/>
            <a:ext cx="2560320" cy="109728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>
              <a:defRPr sz="2000" b="1">
                <a:solidFill>
                  <a:srgbClr val="F8FAFC"/>
                </a:solidFill>
                <a:latin typeface="Aptos"/>
              </a:defRPr>
            </a:pPr>
            <a:r>
              <a:t>HAM10000</a:t>
            </a:r>
            <a:br/>
            <a:r>
              <a:t>7-class image</a:t>
            </a:r>
            <a:br/>
            <a:r>
              <a:t>classification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15400" y="4114800"/>
            <a:ext cx="2651760" cy="114300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>
              <a:defRPr sz="1600" b="1">
                <a:solidFill>
                  <a:srgbClr val="6ACDCB"/>
                </a:solidFill>
                <a:latin typeface="Aptos"/>
              </a:defRPr>
            </a:pPr>
            <a:r>
              <a:t>MobileNetV2</a:t>
            </a:r>
            <a:br/>
            <a:r>
              <a:t>Transfer Learning</a:t>
            </a:r>
            <a:br/>
            <a:r>
              <a:t>TensorFlow / Keras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0" y="5989320"/>
            <a:ext cx="2743200" cy="36576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>
              <a:defRPr sz="1000" b="1">
                <a:solidFill>
                  <a:srgbClr val="A6B6C7"/>
                </a:solidFill>
                <a:latin typeface="Aptos"/>
              </a:defRPr>
            </a:pPr>
            <a:r>
              <a:t>ACADEMIC PROTOTYPE 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B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475488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2700" b="1">
                <a:solidFill>
                  <a:srgbClr val="F8FAFC"/>
                </a:solidFill>
                <a:latin typeface="Aptos"/>
              </a:defRPr>
            </a:pPr>
            <a:r>
              <a:t>Project Overview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832104"/>
            <a:ext cx="777240" cy="50292"/>
          </a:xfrm>
          <a:prstGeom prst="rect">
            <a:avLst/>
          </a:prstGeom>
          <a:solidFill>
            <a:srgbClr val="20A1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17320" y="749808"/>
            <a:ext cx="9875520" cy="22860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000" b="0">
                <a:solidFill>
                  <a:srgbClr val="A6B6C7"/>
                </a:solidFill>
                <a:latin typeface="Aptos"/>
              </a:defRPr>
            </a:pPr>
            <a:r>
              <a:t>What SkinSight AI demonstrates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510528"/>
            <a:ext cx="411480" cy="18288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r">
              <a:defRPr sz="900" b="0">
                <a:solidFill>
                  <a:srgbClr val="A6B6C7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234440"/>
            <a:ext cx="3520440" cy="1920240"/>
          </a:xfrm>
          <a:prstGeom prst="roundRect">
            <a:avLst/>
          </a:prstGeom>
          <a:solidFill>
            <a:srgbClr val="19263D"/>
          </a:solidFill>
          <a:ln>
            <a:solidFill>
              <a:srgbClr val="3348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234440"/>
            <a:ext cx="64008" cy="1920240"/>
          </a:xfrm>
          <a:prstGeom prst="rect">
            <a:avLst/>
          </a:prstGeom>
          <a:solidFill>
            <a:srgbClr val="20A1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1380744"/>
            <a:ext cx="3154680" cy="32004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700" b="1">
                <a:solidFill>
                  <a:srgbClr val="6ACDCB"/>
                </a:solidFill>
                <a:latin typeface="Aptos"/>
              </a:defRPr>
            </a:pPr>
            <a:r>
              <a:t>PROJECT IDEA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1801368"/>
            <a:ext cx="3136392" cy="1225296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600" b="0">
                <a:solidFill>
                  <a:srgbClr val="F8FAFC"/>
                </a:solidFill>
                <a:latin typeface="Aptos"/>
              </a:defRPr>
            </a:pPr>
            <a:r>
              <a:t>A deep learning prototype that classifies dermatoscopic skin-lesion images into seven HAM10000 label categories.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234440"/>
            <a:ext cx="3520440" cy="1920240"/>
          </a:xfrm>
          <a:prstGeom prst="roundRect">
            <a:avLst/>
          </a:prstGeom>
          <a:solidFill>
            <a:srgbClr val="19263D"/>
          </a:solidFill>
          <a:ln>
            <a:solidFill>
              <a:srgbClr val="3348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43400" y="1234440"/>
            <a:ext cx="64008" cy="1920240"/>
          </a:xfrm>
          <a:prstGeom prst="rect">
            <a:avLst/>
          </a:prstGeom>
          <a:solidFill>
            <a:srgbClr val="6ACD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44568" y="1380744"/>
            <a:ext cx="3154680" cy="32004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700" b="1">
                <a:solidFill>
                  <a:srgbClr val="6ACDCB"/>
                </a:solidFill>
                <a:latin typeface="Aptos"/>
              </a:defRPr>
            </a:pPr>
            <a:r>
              <a:t>CORE APPROACH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44568" y="1801368"/>
            <a:ext cx="3136392" cy="1225296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600" b="0">
                <a:solidFill>
                  <a:srgbClr val="F8FAFC"/>
                </a:solidFill>
                <a:latin typeface="Aptos"/>
              </a:defRPr>
            </a:pPr>
            <a:r>
              <a:t>Transfer learning with an ImageNet-pretrained MobileNetV2 backbone and a seven-unit softmax classification head.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234440"/>
            <a:ext cx="3520440" cy="1920240"/>
          </a:xfrm>
          <a:prstGeom prst="roundRect">
            <a:avLst/>
          </a:prstGeom>
          <a:solidFill>
            <a:srgbClr val="19263D"/>
          </a:solidFill>
          <a:ln>
            <a:solidFill>
              <a:srgbClr val="3348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46720" y="1234440"/>
            <a:ext cx="64008" cy="1920240"/>
          </a:xfrm>
          <a:prstGeom prst="rect">
            <a:avLst/>
          </a:prstGeom>
          <a:solidFill>
            <a:srgbClr val="F2A5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47888" y="1380744"/>
            <a:ext cx="3154680" cy="32004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700" b="1">
                <a:solidFill>
                  <a:srgbClr val="6ACDCB"/>
                </a:solidFill>
                <a:latin typeface="Aptos"/>
              </a:defRPr>
            </a:pPr>
            <a:r>
              <a:t>USER EXPERIENCE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47888" y="1801368"/>
            <a:ext cx="3136392" cy="1225296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600" b="0">
                <a:solidFill>
                  <a:srgbClr val="F8FAFC"/>
                </a:solidFill>
                <a:latin typeface="Aptos"/>
              </a:defRPr>
            </a:pPr>
            <a:r>
              <a:t>A Streamlit app for image upload, top-3 model outputs, class descriptions and evaluation visualizations.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3703320"/>
            <a:ext cx="10607040" cy="41148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2000" b="1">
                <a:solidFill>
                  <a:srgbClr val="6ACDCB"/>
                </a:solidFill>
                <a:latin typeface="Aptos"/>
              </a:defRPr>
            </a:pPr>
            <a:r>
              <a:t>Project scope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4224528"/>
            <a:ext cx="10424160" cy="1554480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F8FAFC"/>
                </a:solidFill>
                <a:latin typeface="Aptos"/>
              </a:defRPr>
            </a:pPr>
            <a:r>
              <a:t>•  Study multi-class classification on the HAM10000 dermatoscopic image dataset.</a:t>
            </a:r>
          </a:p>
          <a:p>
            <a:pPr>
              <a:spcAft>
                <a:spcPts val="1200"/>
              </a:spcAft>
              <a:defRPr sz="1600">
                <a:solidFill>
                  <a:srgbClr val="F8FAFC"/>
                </a:solidFill>
                <a:latin typeface="Aptos"/>
              </a:defRPr>
            </a:pPr>
            <a:r>
              <a:t>•  Evaluate validation performance using accuracy, macro precision, macro recall and macro F1-score.</a:t>
            </a:r>
          </a:p>
          <a:p>
            <a:pPr>
              <a:spcAft>
                <a:spcPts val="1200"/>
              </a:spcAft>
              <a:defRPr sz="1600">
                <a:solidFill>
                  <a:srgbClr val="F8FAFC"/>
                </a:solidFill>
                <a:latin typeface="Aptos"/>
              </a:defRPr>
            </a:pPr>
            <a:r>
              <a:t>•  Demonstrate an end-to-end workflow from data preparation to a web-based prototype.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B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475488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2700" b="1">
                <a:solidFill>
                  <a:srgbClr val="F8FAFC"/>
                </a:solidFill>
                <a:latin typeface="Aptos"/>
              </a:defRPr>
            </a:pPr>
            <a:r>
              <a:t>Problem Statement &amp; Objectives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832104"/>
            <a:ext cx="777240" cy="50292"/>
          </a:xfrm>
          <a:prstGeom prst="rect">
            <a:avLst/>
          </a:prstGeom>
          <a:solidFill>
            <a:srgbClr val="20A1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17320" y="749808"/>
            <a:ext cx="9875520" cy="22860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000" b="0">
                <a:solidFill>
                  <a:srgbClr val="A6B6C7"/>
                </a:solidFill>
                <a:latin typeface="Aptos"/>
              </a:defRPr>
            </a:pPr>
            <a:r>
              <a:t>The project is an educational research exercise—not a clinical product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510528"/>
            <a:ext cx="411480" cy="18288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r">
              <a:defRPr sz="900" b="0">
                <a:solidFill>
                  <a:srgbClr val="A6B6C7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234440"/>
            <a:ext cx="5257800" cy="1965960"/>
          </a:xfrm>
          <a:prstGeom prst="roundRect">
            <a:avLst/>
          </a:prstGeom>
          <a:solidFill>
            <a:srgbClr val="19263D"/>
          </a:solidFill>
          <a:ln>
            <a:solidFill>
              <a:srgbClr val="3348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234440"/>
            <a:ext cx="64008" cy="1965960"/>
          </a:xfrm>
          <a:prstGeom prst="rect">
            <a:avLst/>
          </a:prstGeom>
          <a:solidFill>
            <a:srgbClr val="20A1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" y="1380744"/>
            <a:ext cx="4892040" cy="32004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700" b="1">
                <a:solidFill>
                  <a:srgbClr val="6ACDCB"/>
                </a:solidFill>
                <a:latin typeface="Aptos"/>
              </a:defRPr>
            </a:pPr>
            <a:r>
              <a:t>PROBLEM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1801368"/>
            <a:ext cx="4873752" cy="1271016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600" b="0">
                <a:solidFill>
                  <a:srgbClr val="F8FAFC"/>
                </a:solidFill>
                <a:latin typeface="Aptos"/>
              </a:defRPr>
            </a:pPr>
            <a:r>
              <a:t>Interpreting skin-lesion images requires specialist expertise. This project investigates whether transfer learning can distinguish seven labelled categories in a research dataset.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1280160"/>
            <a:ext cx="4846320" cy="36576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800" b="1">
                <a:solidFill>
                  <a:srgbClr val="6ACDCB"/>
                </a:solidFill>
                <a:latin typeface="Aptos"/>
              </a:defRPr>
            </a:pPr>
            <a:r>
              <a:t>PROJECT OBJECTIVES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1783080"/>
            <a:ext cx="5029200" cy="3291840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F8FAFC"/>
                </a:solidFill>
                <a:latin typeface="Aptos"/>
              </a:defRPr>
            </a:pPr>
            <a:r>
              <a:t>•  Build a seven-class image classifier.</a:t>
            </a:r>
          </a:p>
          <a:p>
            <a:pPr>
              <a:spcAft>
                <a:spcPts val="1200"/>
              </a:spcAft>
              <a:defRPr sz="1500">
                <a:solidFill>
                  <a:srgbClr val="F8FAFC"/>
                </a:solidFill>
                <a:latin typeface="Aptos"/>
              </a:defRPr>
            </a:pPr>
            <a:r>
              <a:t>•  Use MobileNetV2 transfer learning to reduce training cost.</a:t>
            </a:r>
          </a:p>
          <a:p>
            <a:pPr>
              <a:spcAft>
                <a:spcPts val="1200"/>
              </a:spcAft>
              <a:defRPr sz="1500">
                <a:solidFill>
                  <a:srgbClr val="F8FAFC"/>
                </a:solidFill>
                <a:latin typeface="Aptos"/>
              </a:defRPr>
            </a:pPr>
            <a:r>
              <a:t>•  Prepare images, labels and metadata for supervised learning.</a:t>
            </a:r>
          </a:p>
          <a:p>
            <a:pPr>
              <a:spcAft>
                <a:spcPts val="1200"/>
              </a:spcAft>
              <a:defRPr sz="1500">
                <a:solidFill>
                  <a:srgbClr val="F8FAFC"/>
                </a:solidFill>
                <a:latin typeface="Aptos"/>
              </a:defRPr>
            </a:pPr>
            <a:r>
              <a:t>•  Reduce lesion-level data leakage with grouped splitting.</a:t>
            </a:r>
          </a:p>
          <a:p>
            <a:pPr>
              <a:spcAft>
                <a:spcPts val="1200"/>
              </a:spcAft>
              <a:defRPr sz="1500">
                <a:solidFill>
                  <a:srgbClr val="F8FAFC"/>
                </a:solidFill>
                <a:latin typeface="Aptos"/>
              </a:defRPr>
            </a:pPr>
            <a:r>
              <a:t>•  Evaluate class-wise and aggregate performance.</a:t>
            </a:r>
          </a:p>
          <a:p>
            <a:pPr>
              <a:spcAft>
                <a:spcPts val="1200"/>
              </a:spcAft>
              <a:defRPr sz="1500">
                <a:solidFill>
                  <a:srgbClr val="F8FAFC"/>
                </a:solidFill>
                <a:latin typeface="Aptos"/>
              </a:defRPr>
            </a:pPr>
            <a:r>
              <a:t>•  Create a Streamlit demonstration interface.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886200"/>
            <a:ext cx="4800600" cy="109728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600" b="0">
                <a:solidFill>
                  <a:srgbClr val="E0E9F2"/>
                </a:solidFill>
                <a:latin typeface="Aptos"/>
              </a:defRPr>
            </a:pPr>
            <a:r>
              <a:t>Expected outcome: a reproducible academic workflow and working demonstration interface, with limitations clearly documented.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B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475488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2700" b="1">
                <a:solidFill>
                  <a:srgbClr val="F8FAFC"/>
                </a:solidFill>
                <a:latin typeface="Aptos"/>
              </a:defRPr>
            </a:pPr>
            <a:r>
              <a:t>Dataset: HAM10000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832104"/>
            <a:ext cx="777240" cy="50292"/>
          </a:xfrm>
          <a:prstGeom prst="rect">
            <a:avLst/>
          </a:prstGeom>
          <a:solidFill>
            <a:srgbClr val="20A1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17320" y="749808"/>
            <a:ext cx="9875520" cy="22860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000" b="0">
                <a:solidFill>
                  <a:srgbClr val="A6B6C7"/>
                </a:solidFill>
                <a:latin typeface="Aptos"/>
              </a:defRPr>
            </a:pPr>
            <a:r>
              <a:t>Dermatoscopic images • seven diagnostic labels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510528"/>
            <a:ext cx="411480" cy="18288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r">
              <a:defRPr sz="900" b="0">
                <a:solidFill>
                  <a:srgbClr val="A6B6C7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34440"/>
            <a:ext cx="2423160" cy="1234440"/>
          </a:xfrm>
          <a:prstGeom prst="roundRect">
            <a:avLst/>
          </a:prstGeom>
          <a:solidFill>
            <a:srgbClr val="19263D"/>
          </a:solidFill>
          <a:ln>
            <a:solidFill>
              <a:srgbClr val="3348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77824" y="1353312"/>
            <a:ext cx="2130552" cy="25603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200" b="1">
                <a:solidFill>
                  <a:srgbClr val="A6B6C7"/>
                </a:solidFill>
                <a:latin typeface="Aptos"/>
              </a:defRPr>
            </a:pPr>
            <a:r>
              <a:t>DATASET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7824" y="1627632"/>
            <a:ext cx="2130552" cy="48463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2700" b="1">
                <a:solidFill>
                  <a:srgbClr val="6ACDCB"/>
                </a:solidFill>
                <a:latin typeface="Aptos"/>
              </a:defRPr>
            </a:pPr>
            <a:r>
              <a:t>HAM10000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7824" y="2167128"/>
            <a:ext cx="2130552" cy="18288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900" b="0">
                <a:solidFill>
                  <a:srgbClr val="A6B6C7"/>
                </a:solidFill>
                <a:latin typeface="Aptos"/>
              </a:defRPr>
            </a:pPr>
            <a:r>
              <a:t>Public research dataset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37560" y="1234440"/>
            <a:ext cx="2423160" cy="1234440"/>
          </a:xfrm>
          <a:prstGeom prst="roundRect">
            <a:avLst/>
          </a:prstGeom>
          <a:solidFill>
            <a:srgbClr val="19263D"/>
          </a:solidFill>
          <a:ln>
            <a:solidFill>
              <a:srgbClr val="3348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83864" y="1353312"/>
            <a:ext cx="2130552" cy="25603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200" b="1">
                <a:solidFill>
                  <a:srgbClr val="A6B6C7"/>
                </a:solidFill>
                <a:latin typeface="Aptos"/>
              </a:defRPr>
            </a:pPr>
            <a:r>
              <a:t>LABELS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83864" y="1627632"/>
            <a:ext cx="2130552" cy="48463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2700" b="1">
                <a:solidFill>
                  <a:srgbClr val="6ACDCB"/>
                </a:solidFill>
                <a:latin typeface="Aptos"/>
              </a:defRPr>
            </a:pPr>
            <a:r>
              <a:t>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83864" y="2167128"/>
            <a:ext cx="2130552" cy="18288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900" b="0">
                <a:solidFill>
                  <a:srgbClr val="A6B6C7"/>
                </a:solidFill>
                <a:latin typeface="Aptos"/>
              </a:defRPr>
            </a:pPr>
            <a:r>
              <a:t>Multi-class classification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0" y="1234440"/>
            <a:ext cx="2423160" cy="1234440"/>
          </a:xfrm>
          <a:prstGeom prst="roundRect">
            <a:avLst/>
          </a:prstGeom>
          <a:solidFill>
            <a:srgbClr val="19263D"/>
          </a:solidFill>
          <a:ln>
            <a:solidFill>
              <a:srgbClr val="3348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89904" y="1353312"/>
            <a:ext cx="2130552" cy="25603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200" b="1">
                <a:solidFill>
                  <a:srgbClr val="A6B6C7"/>
                </a:solidFill>
                <a:latin typeface="Aptos"/>
              </a:defRPr>
            </a:pPr>
            <a:r>
              <a:t>VALIDATION SET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89904" y="1627632"/>
            <a:ext cx="2130552" cy="48463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2700" b="1">
                <a:solidFill>
                  <a:srgbClr val="6ACDCB"/>
                </a:solidFill>
                <a:latin typeface="Aptos"/>
              </a:defRPr>
            </a:pPr>
            <a:r>
              <a:t>2,014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89904" y="2167128"/>
            <a:ext cx="2130552" cy="18288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900" b="0">
                <a:solidFill>
                  <a:srgbClr val="A6B6C7"/>
                </a:solidFill>
                <a:latin typeface="Aptos"/>
              </a:defRPr>
            </a:pPr>
            <a:r>
              <a:t>Support total from metrics.json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49640" y="1234440"/>
            <a:ext cx="2423160" cy="1234440"/>
          </a:xfrm>
          <a:prstGeom prst="roundRect">
            <a:avLst/>
          </a:prstGeom>
          <a:solidFill>
            <a:srgbClr val="19263D"/>
          </a:solidFill>
          <a:ln>
            <a:solidFill>
              <a:srgbClr val="3348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95944" y="1353312"/>
            <a:ext cx="2130552" cy="25603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200" b="1">
                <a:solidFill>
                  <a:srgbClr val="A6B6C7"/>
                </a:solidFill>
                <a:latin typeface="Aptos"/>
              </a:defRPr>
            </a:pPr>
            <a:r>
              <a:t>INPUT SIZE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95944" y="1627632"/>
            <a:ext cx="2130552" cy="48463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2700" b="1">
                <a:solidFill>
                  <a:srgbClr val="6ACDCB"/>
                </a:solidFill>
                <a:latin typeface="Aptos"/>
              </a:defRPr>
            </a:pPr>
            <a:r>
              <a:t>160×160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95944" y="2167128"/>
            <a:ext cx="2130552" cy="18288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900" b="0">
                <a:solidFill>
                  <a:srgbClr val="A6B6C7"/>
                </a:solidFill>
                <a:latin typeface="Aptos"/>
              </a:defRPr>
            </a:pPr>
            <a:r>
              <a:t>RGB images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2880360"/>
            <a:ext cx="5212080" cy="36576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800" b="1">
                <a:solidFill>
                  <a:srgbClr val="6ACDCB"/>
                </a:solidFill>
                <a:latin typeface="Aptos"/>
              </a:defRPr>
            </a:pPr>
            <a:r>
              <a:t>Seven label categories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3337560"/>
            <a:ext cx="4937760" cy="2377440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1200"/>
              </a:spcAft>
              <a:defRPr sz="1300">
                <a:solidFill>
                  <a:srgbClr val="F8FAFC"/>
                </a:solidFill>
                <a:latin typeface="Aptos"/>
              </a:defRPr>
            </a:pPr>
            <a:r>
              <a:t>•  AKIEC — Actinic keratoses and intraepithelial carcinoma</a:t>
            </a:r>
          </a:p>
          <a:p>
            <a:pPr>
              <a:spcAft>
                <a:spcPts val="1200"/>
              </a:spcAft>
              <a:defRPr sz="1300">
                <a:solidFill>
                  <a:srgbClr val="F8FAFC"/>
                </a:solidFill>
                <a:latin typeface="Aptos"/>
              </a:defRPr>
            </a:pPr>
            <a:r>
              <a:t>•  BCC — Basal cell carcinoma</a:t>
            </a:r>
          </a:p>
          <a:p>
            <a:pPr>
              <a:spcAft>
                <a:spcPts val="1200"/>
              </a:spcAft>
              <a:defRPr sz="1300">
                <a:solidFill>
                  <a:srgbClr val="F8FAFC"/>
                </a:solidFill>
                <a:latin typeface="Aptos"/>
              </a:defRPr>
            </a:pPr>
            <a:r>
              <a:t>•  BKL — Benign keratosis-like lesions</a:t>
            </a:r>
          </a:p>
          <a:p>
            <a:pPr>
              <a:spcAft>
                <a:spcPts val="1200"/>
              </a:spcAft>
              <a:defRPr sz="1300">
                <a:solidFill>
                  <a:srgbClr val="F8FAFC"/>
                </a:solidFill>
                <a:latin typeface="Aptos"/>
              </a:defRPr>
            </a:pPr>
            <a:r>
              <a:t>•  DF — Dermatofibroma</a:t>
            </a:r>
          </a:p>
          <a:p>
            <a:pPr>
              <a:spcAft>
                <a:spcPts val="1200"/>
              </a:spcAft>
              <a:defRPr sz="1300">
                <a:solidFill>
                  <a:srgbClr val="F8FAFC"/>
                </a:solidFill>
                <a:latin typeface="Aptos"/>
              </a:defRPr>
            </a:pPr>
            <a:r>
              <a:t>•  MEL — Melanoma</a:t>
            </a:r>
          </a:p>
          <a:p>
            <a:pPr>
              <a:spcAft>
                <a:spcPts val="1200"/>
              </a:spcAft>
              <a:defRPr sz="1300">
                <a:solidFill>
                  <a:srgbClr val="F8FAFC"/>
                </a:solidFill>
                <a:latin typeface="Aptos"/>
              </a:defRPr>
            </a:pPr>
            <a:r>
              <a:t>•  NV — Melanocytic nevi</a:t>
            </a:r>
          </a:p>
          <a:p>
            <a:pPr>
              <a:spcAft>
                <a:spcPts val="1200"/>
              </a:spcAft>
              <a:defRPr sz="1300">
                <a:solidFill>
                  <a:srgbClr val="F8FAFC"/>
                </a:solidFill>
                <a:latin typeface="Aptos"/>
              </a:defRPr>
            </a:pPr>
            <a:r>
              <a:t>•  VASC — Vascular lesions</a:t>
            </a:r>
          </a:p>
        </p:txBody>
      </p:sp>
      <p:pic>
        <p:nvPicPr>
          <p:cNvPr id="24" name="Picture 23" descr="skinsight_validation_suppo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9320" y="2926080"/>
            <a:ext cx="5394960" cy="2370125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6080760" y="5943600"/>
            <a:ext cx="5303520" cy="32004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000" b="0">
                <a:solidFill>
                  <a:srgbClr val="A6B6C7"/>
                </a:solidFill>
                <a:latin typeface="Aptos"/>
              </a:defRPr>
            </a:pPr>
            <a:r>
              <a:t>Counts are validation-set supports, not full-dataset totals.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B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475488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2700" b="1">
                <a:solidFill>
                  <a:srgbClr val="F8FAFC"/>
                </a:solidFill>
                <a:latin typeface="Aptos"/>
              </a:defRPr>
            </a:pPr>
            <a:r>
              <a:t>Methodology &amp; Workflow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832104"/>
            <a:ext cx="777240" cy="50292"/>
          </a:xfrm>
          <a:prstGeom prst="rect">
            <a:avLst/>
          </a:prstGeom>
          <a:solidFill>
            <a:srgbClr val="20A1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17320" y="749808"/>
            <a:ext cx="9875520" cy="22860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000" b="0">
                <a:solidFill>
                  <a:srgbClr val="A6B6C7"/>
                </a:solidFill>
                <a:latin typeface="Aptos"/>
              </a:defRPr>
            </a:pPr>
            <a:r>
              <a:t>From raw dataset to an interactive inference interface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510528"/>
            <a:ext cx="411480" cy="18288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r">
              <a:defRPr sz="900" b="0">
                <a:solidFill>
                  <a:srgbClr val="A6B6C7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325880"/>
            <a:ext cx="3429000" cy="1600200"/>
          </a:xfrm>
          <a:prstGeom prst="roundRect">
            <a:avLst/>
          </a:prstGeom>
          <a:solidFill>
            <a:srgbClr val="19263D"/>
          </a:solidFill>
          <a:ln>
            <a:solidFill>
              <a:srgbClr val="3348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325880"/>
            <a:ext cx="64008" cy="1600200"/>
          </a:xfrm>
          <a:prstGeom prst="rect">
            <a:avLst/>
          </a:prstGeom>
          <a:solidFill>
            <a:srgbClr val="20A1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" y="1472184"/>
            <a:ext cx="3063240" cy="32004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700" b="1">
                <a:solidFill>
                  <a:srgbClr val="6ACDCB"/>
                </a:solidFill>
                <a:latin typeface="Aptos"/>
              </a:defRPr>
            </a:pPr>
            <a:r>
              <a:t>01  Dataset &amp; metadata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1892807"/>
            <a:ext cx="3044952" cy="905256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400" b="0">
                <a:solidFill>
                  <a:srgbClr val="F8FAFC"/>
                </a:solidFill>
                <a:latin typeface="Aptos"/>
              </a:defRPr>
            </a:pPr>
            <a:r>
              <a:t>HAM10000 images + metadata CSV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1325880"/>
            <a:ext cx="3429000" cy="1600200"/>
          </a:xfrm>
          <a:prstGeom prst="roundRect">
            <a:avLst/>
          </a:prstGeom>
          <a:solidFill>
            <a:srgbClr val="19263D"/>
          </a:solidFill>
          <a:ln>
            <a:solidFill>
              <a:srgbClr val="3348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80560" y="1325880"/>
            <a:ext cx="64008" cy="1600200"/>
          </a:xfrm>
          <a:prstGeom prst="rect">
            <a:avLst/>
          </a:prstGeom>
          <a:solidFill>
            <a:srgbClr val="6ACD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81728" y="1472184"/>
            <a:ext cx="3063240" cy="32004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700" b="1">
                <a:solidFill>
                  <a:srgbClr val="6ACDCB"/>
                </a:solidFill>
                <a:latin typeface="Aptos"/>
              </a:defRPr>
            </a:pPr>
            <a:r>
              <a:t>02  Preprocessing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81728" y="1892807"/>
            <a:ext cx="3044952" cy="905256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400" b="0">
                <a:solidFill>
                  <a:srgbClr val="F8FAFC"/>
                </a:solidFill>
                <a:latin typeface="Aptos"/>
              </a:defRPr>
            </a:pPr>
            <a:r>
              <a:t>RGB • resize 160×160 • MobileNetV2 preprocessing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75320" y="1325880"/>
            <a:ext cx="3429000" cy="1600200"/>
          </a:xfrm>
          <a:prstGeom prst="roundRect">
            <a:avLst/>
          </a:prstGeom>
          <a:solidFill>
            <a:srgbClr val="19263D"/>
          </a:solidFill>
          <a:ln>
            <a:solidFill>
              <a:srgbClr val="3348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75320" y="1325880"/>
            <a:ext cx="64008" cy="1600200"/>
          </a:xfrm>
          <a:prstGeom prst="rect">
            <a:avLst/>
          </a:prstGeom>
          <a:solidFill>
            <a:srgbClr val="F2A5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76488" y="1472184"/>
            <a:ext cx="3063240" cy="32004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700" b="1">
                <a:solidFill>
                  <a:srgbClr val="6ACDCB"/>
                </a:solidFill>
                <a:latin typeface="Aptos"/>
              </a:defRPr>
            </a:pPr>
            <a:r>
              <a:t>03  Split strategy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76488" y="1892807"/>
            <a:ext cx="3044952" cy="905256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400" b="0">
                <a:solidFill>
                  <a:srgbClr val="F8FAFC"/>
                </a:solidFill>
                <a:latin typeface="Aptos"/>
              </a:defRPr>
            </a:pPr>
            <a:r>
              <a:t>StratifiedGroupKFold grouped by lesion_id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3566160"/>
            <a:ext cx="3429000" cy="1600200"/>
          </a:xfrm>
          <a:prstGeom prst="roundRect">
            <a:avLst/>
          </a:prstGeom>
          <a:solidFill>
            <a:srgbClr val="19263D"/>
          </a:solidFill>
          <a:ln>
            <a:solidFill>
              <a:srgbClr val="3348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85800" y="3566160"/>
            <a:ext cx="64008" cy="1600200"/>
          </a:xfrm>
          <a:prstGeom prst="rect">
            <a:avLst/>
          </a:prstGeom>
          <a:solidFill>
            <a:srgbClr val="20A1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86968" y="3712464"/>
            <a:ext cx="3063240" cy="32004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700" b="1">
                <a:solidFill>
                  <a:srgbClr val="6ACDCB"/>
                </a:solidFill>
                <a:latin typeface="Aptos"/>
              </a:defRPr>
            </a:pPr>
            <a:r>
              <a:t>04  Training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6968" y="4133088"/>
            <a:ext cx="3044952" cy="905256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400" b="0">
                <a:solidFill>
                  <a:srgbClr val="F8FAFC"/>
                </a:solidFill>
                <a:latin typeface="Aptos"/>
              </a:defRPr>
            </a:pPr>
            <a:r>
              <a:t>MobileNetV2 transfer learning + classification head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80560" y="3566160"/>
            <a:ext cx="3429000" cy="1600200"/>
          </a:xfrm>
          <a:prstGeom prst="roundRect">
            <a:avLst/>
          </a:prstGeom>
          <a:solidFill>
            <a:srgbClr val="19263D"/>
          </a:solidFill>
          <a:ln>
            <a:solidFill>
              <a:srgbClr val="3348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480560" y="3566160"/>
            <a:ext cx="64008" cy="1600200"/>
          </a:xfrm>
          <a:prstGeom prst="rect">
            <a:avLst/>
          </a:prstGeom>
          <a:solidFill>
            <a:srgbClr val="6ACD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81728" y="3712464"/>
            <a:ext cx="3063240" cy="32004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700" b="1">
                <a:solidFill>
                  <a:srgbClr val="6ACDCB"/>
                </a:solidFill>
                <a:latin typeface="Aptos"/>
              </a:defRPr>
            </a:pPr>
            <a:r>
              <a:t>05  Evaluation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81728" y="4133088"/>
            <a:ext cx="3044952" cy="905256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400" b="0">
                <a:solidFill>
                  <a:srgbClr val="F8FAFC"/>
                </a:solidFill>
                <a:latin typeface="Aptos"/>
              </a:defRPr>
            </a:pPr>
            <a:r>
              <a:t>Validation metrics + class-wise report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75320" y="3566160"/>
            <a:ext cx="3429000" cy="1600200"/>
          </a:xfrm>
          <a:prstGeom prst="roundRect">
            <a:avLst/>
          </a:prstGeom>
          <a:solidFill>
            <a:srgbClr val="19263D"/>
          </a:solidFill>
          <a:ln>
            <a:solidFill>
              <a:srgbClr val="3348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275320" y="3566160"/>
            <a:ext cx="64008" cy="1600200"/>
          </a:xfrm>
          <a:prstGeom prst="rect">
            <a:avLst/>
          </a:prstGeom>
          <a:solidFill>
            <a:srgbClr val="F2A5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76488" y="3712464"/>
            <a:ext cx="3063240" cy="32004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700" b="1">
                <a:solidFill>
                  <a:srgbClr val="6ACDCB"/>
                </a:solidFill>
                <a:latin typeface="Aptos"/>
              </a:defRPr>
            </a:pPr>
            <a:r>
              <a:t>06  Deployment demo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76488" y="4133088"/>
            <a:ext cx="3044952" cy="905256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400" b="0">
                <a:solidFill>
                  <a:srgbClr val="F8FAFC"/>
                </a:solidFill>
                <a:latin typeface="Aptos"/>
              </a:defRPr>
            </a:pPr>
            <a:r>
              <a:t>Streamlit upload, prediction and visualizations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" y="6080760"/>
            <a:ext cx="10607040" cy="32004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200" b="0">
                <a:solidFill>
                  <a:srgbClr val="A6B6C7"/>
                </a:solidFill>
                <a:latin typeface="Aptos"/>
              </a:defRPr>
            </a:pPr>
            <a:r>
              <a:t>Grouped splitting keeps images associated with the same lesion in one subset to reduce leakage risk.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B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475488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2700" b="1">
                <a:solidFill>
                  <a:srgbClr val="F8FAFC"/>
                </a:solidFill>
                <a:latin typeface="Aptos"/>
              </a:defRPr>
            </a:pPr>
            <a:r>
              <a:t>Model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832104"/>
            <a:ext cx="777240" cy="50292"/>
          </a:xfrm>
          <a:prstGeom prst="rect">
            <a:avLst/>
          </a:prstGeom>
          <a:solidFill>
            <a:srgbClr val="20A1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17320" y="749808"/>
            <a:ext cx="9875520" cy="22860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000" b="0">
                <a:solidFill>
                  <a:srgbClr val="A6B6C7"/>
                </a:solidFill>
                <a:latin typeface="Aptos"/>
              </a:defRPr>
            </a:pPr>
            <a:r>
              <a:t>MobileNetV2 transfer learning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510528"/>
            <a:ext cx="411480" cy="18288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r">
              <a:defRPr sz="900" b="0">
                <a:solidFill>
                  <a:srgbClr val="A6B6C7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057400"/>
            <a:ext cx="1627632" cy="1828800"/>
          </a:xfrm>
          <a:prstGeom prst="roundRect">
            <a:avLst/>
          </a:prstGeom>
          <a:solidFill>
            <a:srgbClr val="19263D"/>
          </a:solidFill>
          <a:ln>
            <a:solidFill>
              <a:srgbClr val="3348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76072" y="2331720"/>
            <a:ext cx="1481328" cy="5029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>
              <a:defRPr sz="1400" b="1">
                <a:solidFill>
                  <a:srgbClr val="6ACDCB"/>
                </a:solidFill>
                <a:latin typeface="Aptos"/>
              </a:defRPr>
            </a:pPr>
            <a:r>
              <a:t>Input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72" y="2926080"/>
            <a:ext cx="1481328" cy="77724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>
              <a:defRPr sz="1100" b="0">
                <a:solidFill>
                  <a:srgbClr val="F8FAFC"/>
                </a:solidFill>
                <a:latin typeface="Aptos"/>
              </a:defRPr>
            </a:pPr>
            <a:r>
              <a:t>160 × 160 × 3 RGB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67128" y="2697480"/>
            <a:ext cx="274320" cy="36576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>
              <a:defRPr sz="2300" b="1">
                <a:solidFill>
                  <a:srgbClr val="F2A54B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450591" y="2057400"/>
            <a:ext cx="1627632" cy="1828800"/>
          </a:xfrm>
          <a:prstGeom prst="roundRect">
            <a:avLst/>
          </a:prstGeom>
          <a:solidFill>
            <a:srgbClr val="19263D"/>
          </a:solidFill>
          <a:ln>
            <a:solidFill>
              <a:srgbClr val="3348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523744" y="2331720"/>
            <a:ext cx="1481328" cy="5029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>
              <a:defRPr sz="1400" b="1">
                <a:solidFill>
                  <a:srgbClr val="6ACDCB"/>
                </a:solidFill>
                <a:latin typeface="Aptos"/>
              </a:defRPr>
            </a:pPr>
            <a:r>
              <a:t>Augmentation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23744" y="2926080"/>
            <a:ext cx="1481328" cy="77724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>
              <a:defRPr sz="1100" b="0">
                <a:solidFill>
                  <a:srgbClr val="F8FAFC"/>
                </a:solidFill>
                <a:latin typeface="Aptos"/>
              </a:defRPr>
            </a:pPr>
            <a:r>
              <a:t>Random flip, rotation, zoom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0" y="2697480"/>
            <a:ext cx="274320" cy="36576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>
              <a:defRPr sz="2300" b="1">
                <a:solidFill>
                  <a:srgbClr val="F2A54B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98264" y="2057400"/>
            <a:ext cx="1627632" cy="1828800"/>
          </a:xfrm>
          <a:prstGeom prst="roundRect">
            <a:avLst/>
          </a:prstGeom>
          <a:solidFill>
            <a:srgbClr val="19263D"/>
          </a:solidFill>
          <a:ln>
            <a:solidFill>
              <a:srgbClr val="20A1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71416" y="2331720"/>
            <a:ext cx="1481328" cy="5029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>
              <a:defRPr sz="1400" b="1">
                <a:solidFill>
                  <a:srgbClr val="6ACDCB"/>
                </a:solidFill>
                <a:latin typeface="Aptos"/>
              </a:defRPr>
            </a:pPr>
            <a:r>
              <a:t>MobileNetV2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71416" y="2926080"/>
            <a:ext cx="1481328" cy="77724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>
              <a:defRPr sz="1100" b="0">
                <a:solidFill>
                  <a:srgbClr val="F8FAFC"/>
                </a:solidFill>
                <a:latin typeface="Aptos"/>
              </a:defRPr>
            </a:pPr>
            <a:r>
              <a:t>ImageNet pretrained • include_top=False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62472" y="2697480"/>
            <a:ext cx="274320" cy="36576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>
              <a:defRPr sz="2300" b="1">
                <a:solidFill>
                  <a:srgbClr val="F2A54B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45936" y="2057400"/>
            <a:ext cx="1627632" cy="1828800"/>
          </a:xfrm>
          <a:prstGeom prst="roundRect">
            <a:avLst/>
          </a:prstGeom>
          <a:solidFill>
            <a:srgbClr val="19263D"/>
          </a:solidFill>
          <a:ln>
            <a:solidFill>
              <a:srgbClr val="3348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19088" y="2331720"/>
            <a:ext cx="1481328" cy="5029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>
              <a:defRPr sz="1400" b="1">
                <a:solidFill>
                  <a:srgbClr val="6ACDCB"/>
                </a:solidFill>
                <a:latin typeface="Aptos"/>
              </a:defRPr>
            </a:pPr>
            <a:r>
              <a:t>Global Average Pooling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19088" y="2926080"/>
            <a:ext cx="1481328" cy="77724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>
              <a:defRPr sz="1100" b="0">
                <a:solidFill>
                  <a:srgbClr val="F8FAFC"/>
                </a:solidFill>
                <a:latin typeface="Aptos"/>
              </a:defRPr>
            </a:pPr>
            <a:r>
              <a:t>Feature vector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10144" y="2697480"/>
            <a:ext cx="274320" cy="36576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>
              <a:defRPr sz="2300" b="1">
                <a:solidFill>
                  <a:srgbClr val="F2A54B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93608" y="2057400"/>
            <a:ext cx="1627632" cy="1828800"/>
          </a:xfrm>
          <a:prstGeom prst="roundRect">
            <a:avLst/>
          </a:prstGeom>
          <a:solidFill>
            <a:srgbClr val="19263D"/>
          </a:solidFill>
          <a:ln>
            <a:solidFill>
              <a:srgbClr val="3348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66760" y="2331720"/>
            <a:ext cx="1481328" cy="5029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>
              <a:defRPr sz="1400" b="1">
                <a:solidFill>
                  <a:srgbClr val="6ACDCB"/>
                </a:solidFill>
                <a:latin typeface="Aptos"/>
              </a:defRPr>
            </a:pPr>
            <a:r>
              <a:t>Dropout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66760" y="2926080"/>
            <a:ext cx="1481328" cy="77724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>
              <a:defRPr sz="1100" b="0">
                <a:solidFill>
                  <a:srgbClr val="F8FAFC"/>
                </a:solidFill>
                <a:latin typeface="Aptos"/>
              </a:defRPr>
            </a:pPr>
            <a:r>
              <a:t>0.3 regularization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957816" y="2697480"/>
            <a:ext cx="274320" cy="36576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>
              <a:defRPr sz="2300" b="1">
                <a:solidFill>
                  <a:srgbClr val="F2A54B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241280" y="2057400"/>
            <a:ext cx="1627632" cy="1828800"/>
          </a:xfrm>
          <a:prstGeom prst="roundRect">
            <a:avLst/>
          </a:prstGeom>
          <a:solidFill>
            <a:srgbClr val="19263D"/>
          </a:solidFill>
          <a:ln>
            <a:solidFill>
              <a:srgbClr val="20A1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314432" y="2331720"/>
            <a:ext cx="1481328" cy="5029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>
              <a:defRPr sz="1400" b="1">
                <a:solidFill>
                  <a:srgbClr val="6ACDCB"/>
                </a:solidFill>
                <a:latin typeface="Aptos"/>
              </a:defRPr>
            </a:pPr>
            <a:r>
              <a:t>Dense + Softmax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314432" y="2926080"/>
            <a:ext cx="1481328" cy="77724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>
              <a:defRPr sz="1100" b="0">
                <a:solidFill>
                  <a:srgbClr val="F8FAFC"/>
                </a:solidFill>
                <a:latin typeface="Aptos"/>
              </a:defRPr>
            </a:pPr>
            <a:r>
              <a:t>7 class scores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14400" y="4617720"/>
            <a:ext cx="4754880" cy="1005840"/>
          </a:xfrm>
          <a:prstGeom prst="roundRect">
            <a:avLst/>
          </a:prstGeom>
          <a:solidFill>
            <a:srgbClr val="19263D"/>
          </a:solidFill>
          <a:ln>
            <a:solidFill>
              <a:srgbClr val="3348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14400" y="4617720"/>
            <a:ext cx="64008" cy="1005840"/>
          </a:xfrm>
          <a:prstGeom prst="rect">
            <a:avLst/>
          </a:prstGeom>
          <a:solidFill>
            <a:srgbClr val="20A1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15568" y="4764024"/>
            <a:ext cx="4389120" cy="32004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700" b="1">
                <a:solidFill>
                  <a:srgbClr val="6ACDCB"/>
                </a:solidFill>
                <a:latin typeface="Aptos"/>
              </a:defRPr>
            </a:pPr>
            <a:r>
              <a:t>WHY TRANSFER LEARNING?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15568" y="5184648"/>
            <a:ext cx="4370832" cy="310896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300" b="0">
                <a:solidFill>
                  <a:srgbClr val="F8FAFC"/>
                </a:solidFill>
                <a:latin typeface="Aptos"/>
              </a:defRPr>
            </a:pPr>
            <a:r>
              <a:t>Reuses pretrained visual features rather than learning all image features from random initialization.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172200" y="4617720"/>
            <a:ext cx="4754880" cy="1005840"/>
          </a:xfrm>
          <a:prstGeom prst="roundRect">
            <a:avLst/>
          </a:prstGeom>
          <a:solidFill>
            <a:srgbClr val="19263D"/>
          </a:solidFill>
          <a:ln>
            <a:solidFill>
              <a:srgbClr val="3348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172200" y="4617720"/>
            <a:ext cx="64008" cy="1005840"/>
          </a:xfrm>
          <a:prstGeom prst="rect">
            <a:avLst/>
          </a:prstGeom>
          <a:solidFill>
            <a:srgbClr val="F2A5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73368" y="4764024"/>
            <a:ext cx="4389120" cy="32004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700" b="1">
                <a:solidFill>
                  <a:srgbClr val="6ACDCB"/>
                </a:solidFill>
                <a:latin typeface="Aptos"/>
              </a:defRPr>
            </a:pPr>
            <a:r>
              <a:t>OUTPUT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73368" y="5184648"/>
            <a:ext cx="4370832" cy="310896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300" b="0">
                <a:solidFill>
                  <a:srgbClr val="F8FAFC"/>
                </a:solidFill>
                <a:latin typeface="Aptos"/>
              </a:defRPr>
            </a:pPr>
            <a:r>
              <a:t>Seven softmax scores; these are model outputs, not calibrated disease probabilities.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B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475488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2700" b="1">
                <a:solidFill>
                  <a:srgbClr val="F8FAFC"/>
                </a:solidFill>
                <a:latin typeface="Aptos"/>
              </a:defRPr>
            </a:pPr>
            <a:r>
              <a:t>Training Configuration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832104"/>
            <a:ext cx="777240" cy="50292"/>
          </a:xfrm>
          <a:prstGeom prst="rect">
            <a:avLst/>
          </a:prstGeom>
          <a:solidFill>
            <a:srgbClr val="20A1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17320" y="749808"/>
            <a:ext cx="9875520" cy="22860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000" b="0">
                <a:solidFill>
                  <a:srgbClr val="A6B6C7"/>
                </a:solidFill>
                <a:latin typeface="Aptos"/>
              </a:defRPr>
            </a:pPr>
            <a:r>
              <a:t>Configuration documented in the project report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510528"/>
            <a:ext cx="411480" cy="18288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r">
              <a:defRPr sz="900" b="0">
                <a:solidFill>
                  <a:srgbClr val="A6B6C7"/>
                </a:solidFill>
                <a:latin typeface="Aptos"/>
              </a:defRPr>
            </a:pPr>
            <a:r>
              <a:t>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234440"/>
            <a:ext cx="5074920" cy="868680"/>
          </a:xfrm>
          <a:prstGeom prst="roundRect">
            <a:avLst/>
          </a:prstGeom>
          <a:solidFill>
            <a:srgbClr val="19263D"/>
          </a:solidFill>
          <a:ln>
            <a:solidFill>
              <a:srgbClr val="3348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1234440"/>
            <a:ext cx="64008" cy="868680"/>
          </a:xfrm>
          <a:prstGeom prst="rect">
            <a:avLst/>
          </a:prstGeom>
          <a:solidFill>
            <a:srgbClr val="20A1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4128" y="1380744"/>
            <a:ext cx="4709159" cy="32004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700" b="1">
                <a:solidFill>
                  <a:srgbClr val="6ACDCB"/>
                </a:solidFill>
                <a:latin typeface="Aptos"/>
              </a:defRPr>
            </a:pPr>
            <a:r>
              <a:t>Image dimensions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" y="1801368"/>
            <a:ext cx="4690872" cy="173735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300" b="0">
                <a:solidFill>
                  <a:srgbClr val="F8FAFC"/>
                </a:solidFill>
                <a:latin typeface="Aptos"/>
              </a:defRPr>
            </a:pPr>
            <a:r>
              <a:t>160 × 160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1234440"/>
            <a:ext cx="5074920" cy="868680"/>
          </a:xfrm>
          <a:prstGeom prst="roundRect">
            <a:avLst/>
          </a:prstGeom>
          <a:solidFill>
            <a:srgbClr val="19263D"/>
          </a:solidFill>
          <a:ln>
            <a:solidFill>
              <a:srgbClr val="3348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0" y="1234440"/>
            <a:ext cx="64008" cy="868680"/>
          </a:xfrm>
          <a:prstGeom prst="rect">
            <a:avLst/>
          </a:prstGeom>
          <a:solidFill>
            <a:srgbClr val="6ACD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01968" y="1380744"/>
            <a:ext cx="4709159" cy="32004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700" b="1">
                <a:solidFill>
                  <a:srgbClr val="6ACDCB"/>
                </a:solidFill>
                <a:latin typeface="Aptos"/>
              </a:defRPr>
            </a:pPr>
            <a:r>
              <a:t>Batch size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01968" y="1801368"/>
            <a:ext cx="4690872" cy="173735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300" b="0">
                <a:solidFill>
                  <a:srgbClr val="F8FAFC"/>
                </a:solidFill>
                <a:latin typeface="Aptos"/>
              </a:defRPr>
            </a:pPr>
            <a:r>
              <a:t>32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2377440"/>
            <a:ext cx="5074920" cy="868680"/>
          </a:xfrm>
          <a:prstGeom prst="roundRect">
            <a:avLst/>
          </a:prstGeom>
          <a:solidFill>
            <a:srgbClr val="19263D"/>
          </a:solidFill>
          <a:ln>
            <a:solidFill>
              <a:srgbClr val="3348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" y="2377440"/>
            <a:ext cx="64008" cy="868680"/>
          </a:xfrm>
          <a:prstGeom prst="rect">
            <a:avLst/>
          </a:prstGeom>
          <a:solidFill>
            <a:srgbClr val="20A1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24128" y="2523744"/>
            <a:ext cx="4709159" cy="32004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700" b="1">
                <a:solidFill>
                  <a:srgbClr val="6ACDCB"/>
                </a:solidFill>
                <a:latin typeface="Aptos"/>
              </a:defRPr>
            </a:pPr>
            <a:r>
              <a:t>Maximum epochs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24128" y="2944368"/>
            <a:ext cx="4690872" cy="173735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300" b="0">
                <a:solidFill>
                  <a:srgbClr val="F8FAFC"/>
                </a:solidFill>
                <a:latin typeface="Aptos"/>
              </a:defRPr>
            </a:pPr>
            <a:r>
              <a:t>8 (early stopping may stop sooner)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0" y="2377440"/>
            <a:ext cx="5074920" cy="868680"/>
          </a:xfrm>
          <a:prstGeom prst="roundRect">
            <a:avLst/>
          </a:prstGeom>
          <a:solidFill>
            <a:srgbClr val="19263D"/>
          </a:solidFill>
          <a:ln>
            <a:solidFill>
              <a:srgbClr val="3348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0" y="2377440"/>
            <a:ext cx="64008" cy="868680"/>
          </a:xfrm>
          <a:prstGeom prst="rect">
            <a:avLst/>
          </a:prstGeom>
          <a:solidFill>
            <a:srgbClr val="6ACD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01968" y="2523744"/>
            <a:ext cx="4709159" cy="32004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700" b="1">
                <a:solidFill>
                  <a:srgbClr val="6ACDCB"/>
                </a:solidFill>
                <a:latin typeface="Aptos"/>
              </a:defRPr>
            </a:pPr>
            <a:r>
              <a:t>Optimizer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01968" y="2944368"/>
            <a:ext cx="4690872" cy="173735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300" b="0">
                <a:solidFill>
                  <a:srgbClr val="F8FAFC"/>
                </a:solidFill>
                <a:latin typeface="Aptos"/>
              </a:defRPr>
            </a:pPr>
            <a:r>
              <a:t>Adam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" y="3520440"/>
            <a:ext cx="5074920" cy="868680"/>
          </a:xfrm>
          <a:prstGeom prst="roundRect">
            <a:avLst/>
          </a:prstGeom>
          <a:solidFill>
            <a:srgbClr val="19263D"/>
          </a:solidFill>
          <a:ln>
            <a:solidFill>
              <a:srgbClr val="3348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22960" y="3520440"/>
            <a:ext cx="64008" cy="868680"/>
          </a:xfrm>
          <a:prstGeom prst="rect">
            <a:avLst/>
          </a:prstGeom>
          <a:solidFill>
            <a:srgbClr val="20A1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24128" y="3666744"/>
            <a:ext cx="4709159" cy="32004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700" b="1">
                <a:solidFill>
                  <a:srgbClr val="6ACDCB"/>
                </a:solidFill>
                <a:latin typeface="Aptos"/>
              </a:defRPr>
            </a:pPr>
            <a:r>
              <a:t>Initial learning rate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24128" y="4087368"/>
            <a:ext cx="4690872" cy="173735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300" b="0">
                <a:solidFill>
                  <a:srgbClr val="F8FAFC"/>
                </a:solidFill>
                <a:latin typeface="Aptos"/>
              </a:defRPr>
            </a:pPr>
            <a:r>
              <a:t>0.001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0" y="3520440"/>
            <a:ext cx="5074920" cy="868680"/>
          </a:xfrm>
          <a:prstGeom prst="roundRect">
            <a:avLst/>
          </a:prstGeom>
          <a:solidFill>
            <a:srgbClr val="19263D"/>
          </a:solidFill>
          <a:ln>
            <a:solidFill>
              <a:srgbClr val="3348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400800" y="3520440"/>
            <a:ext cx="64008" cy="868680"/>
          </a:xfrm>
          <a:prstGeom prst="rect">
            <a:avLst/>
          </a:prstGeom>
          <a:solidFill>
            <a:srgbClr val="6ACD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01968" y="3666744"/>
            <a:ext cx="4709159" cy="32004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700" b="1">
                <a:solidFill>
                  <a:srgbClr val="6ACDCB"/>
                </a:solidFill>
                <a:latin typeface="Aptos"/>
              </a:defRPr>
            </a:pPr>
            <a:r>
              <a:t>Loss function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01968" y="4087368"/>
            <a:ext cx="4690872" cy="173735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300" b="0">
                <a:solidFill>
                  <a:srgbClr val="F8FAFC"/>
                </a:solidFill>
                <a:latin typeface="Aptos"/>
              </a:defRPr>
            </a:pPr>
            <a:r>
              <a:t>Sparse categorical cross-entropy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22960" y="4663440"/>
            <a:ext cx="5074920" cy="868680"/>
          </a:xfrm>
          <a:prstGeom prst="roundRect">
            <a:avLst/>
          </a:prstGeom>
          <a:solidFill>
            <a:srgbClr val="19263D"/>
          </a:solidFill>
          <a:ln>
            <a:solidFill>
              <a:srgbClr val="3348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22960" y="4663440"/>
            <a:ext cx="64008" cy="868680"/>
          </a:xfrm>
          <a:prstGeom prst="rect">
            <a:avLst/>
          </a:prstGeom>
          <a:solidFill>
            <a:srgbClr val="20A1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24128" y="4809744"/>
            <a:ext cx="4709159" cy="32004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700" b="1">
                <a:solidFill>
                  <a:srgbClr val="6ACDCB"/>
                </a:solidFill>
                <a:latin typeface="Aptos"/>
              </a:defRPr>
            </a:pPr>
            <a:r>
              <a:t>Class imbalance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24128" y="5230368"/>
            <a:ext cx="4690872" cy="173735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300" b="0">
                <a:solidFill>
                  <a:srgbClr val="F8FAFC"/>
                </a:solidFill>
                <a:latin typeface="Aptos"/>
              </a:defRPr>
            </a:pPr>
            <a:r>
              <a:t>Balanced class weights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400800" y="4663440"/>
            <a:ext cx="5074920" cy="868680"/>
          </a:xfrm>
          <a:prstGeom prst="roundRect">
            <a:avLst/>
          </a:prstGeom>
          <a:solidFill>
            <a:srgbClr val="19263D"/>
          </a:solidFill>
          <a:ln>
            <a:solidFill>
              <a:srgbClr val="3348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400800" y="4663440"/>
            <a:ext cx="64008" cy="868680"/>
          </a:xfrm>
          <a:prstGeom prst="rect">
            <a:avLst/>
          </a:prstGeom>
          <a:solidFill>
            <a:srgbClr val="6ACD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601968" y="4809744"/>
            <a:ext cx="4709159" cy="32004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700" b="1">
                <a:solidFill>
                  <a:srgbClr val="6ACDCB"/>
                </a:solidFill>
                <a:latin typeface="Aptos"/>
              </a:defRPr>
            </a:pPr>
            <a:r>
              <a:t>Callbacks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01968" y="5230368"/>
            <a:ext cx="4690872" cy="173735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300" b="0">
                <a:solidFill>
                  <a:srgbClr val="F8FAFC"/>
                </a:solidFill>
                <a:latin typeface="Aptos"/>
              </a:defRPr>
            </a:pPr>
            <a:r>
              <a:t>EarlyStopping + ReduceLROnPlateau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B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475488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2700" b="1">
                <a:solidFill>
                  <a:srgbClr val="F8FAFC"/>
                </a:solidFill>
                <a:latin typeface="Aptos"/>
              </a:defRPr>
            </a:pPr>
            <a:r>
              <a:t>Experimental Results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832104"/>
            <a:ext cx="777240" cy="50292"/>
          </a:xfrm>
          <a:prstGeom prst="rect">
            <a:avLst/>
          </a:prstGeom>
          <a:solidFill>
            <a:srgbClr val="20A1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17320" y="749808"/>
            <a:ext cx="9875520" cy="22860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000" b="0">
                <a:solidFill>
                  <a:srgbClr val="A6B6C7"/>
                </a:solidFill>
                <a:latin typeface="Aptos"/>
              </a:defRPr>
            </a:pPr>
            <a:r>
              <a:t>Actual validation metrics extracted from the supplied metrics.json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510528"/>
            <a:ext cx="411480" cy="18288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r">
              <a:defRPr sz="900" b="0">
                <a:solidFill>
                  <a:srgbClr val="A6B6C7"/>
                </a:solidFill>
                <a:latin typeface="Aptos"/>
              </a:defRPr>
            </a:pPr>
            <a:r>
              <a:t>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417320"/>
            <a:ext cx="2606040" cy="1234440"/>
          </a:xfrm>
          <a:prstGeom prst="roundRect">
            <a:avLst/>
          </a:prstGeom>
          <a:solidFill>
            <a:srgbClr val="19263D"/>
          </a:solidFill>
          <a:ln>
            <a:solidFill>
              <a:srgbClr val="3348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2104" y="1536192"/>
            <a:ext cx="2313432" cy="25603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200" b="1">
                <a:solidFill>
                  <a:srgbClr val="A6B6C7"/>
                </a:solidFill>
                <a:latin typeface="Aptos"/>
              </a:defRPr>
            </a:pPr>
            <a:r>
              <a:t>VALIDATION ACCURACY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104" y="1810512"/>
            <a:ext cx="2313432" cy="48463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2700" b="1">
                <a:solidFill>
                  <a:srgbClr val="6ACDCB"/>
                </a:solidFill>
                <a:latin typeface="Aptos"/>
              </a:defRPr>
            </a:pPr>
            <a:r>
              <a:t>56.65%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2104" y="2350008"/>
            <a:ext cx="2313432" cy="18288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900" b="0">
                <a:solidFill>
                  <a:srgbClr val="A6B6C7"/>
                </a:solidFill>
                <a:latin typeface="Aptos"/>
              </a:defRPr>
            </a:pPr>
            <a:r>
              <a:t>Overall correct predictions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20440" y="1417320"/>
            <a:ext cx="2606040" cy="1234440"/>
          </a:xfrm>
          <a:prstGeom prst="roundRect">
            <a:avLst/>
          </a:prstGeom>
          <a:solidFill>
            <a:srgbClr val="19263D"/>
          </a:solidFill>
          <a:ln>
            <a:solidFill>
              <a:srgbClr val="3348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66744" y="1536192"/>
            <a:ext cx="2313432" cy="25603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200" b="1">
                <a:solidFill>
                  <a:srgbClr val="A6B6C7"/>
                </a:solidFill>
                <a:latin typeface="Aptos"/>
              </a:defRPr>
            </a:pPr>
            <a:r>
              <a:t>VALIDATION LOSS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66744" y="1810512"/>
            <a:ext cx="2313432" cy="48463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2700" b="1">
                <a:solidFill>
                  <a:srgbClr val="6ACDCB"/>
                </a:solidFill>
                <a:latin typeface="Aptos"/>
              </a:defRPr>
            </a:pPr>
            <a:r>
              <a:t>1.1396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66744" y="2350008"/>
            <a:ext cx="2313432" cy="18288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900" b="0">
                <a:solidFill>
                  <a:srgbClr val="A6B6C7"/>
                </a:solidFill>
                <a:latin typeface="Aptos"/>
              </a:defRPr>
            </a:pPr>
            <a:r>
              <a:t>Sparse categorical cross-entropy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55080" y="1417320"/>
            <a:ext cx="2606040" cy="1234440"/>
          </a:xfrm>
          <a:prstGeom prst="roundRect">
            <a:avLst/>
          </a:prstGeom>
          <a:solidFill>
            <a:srgbClr val="19263D"/>
          </a:solidFill>
          <a:ln>
            <a:solidFill>
              <a:srgbClr val="3348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01384" y="1536192"/>
            <a:ext cx="2313432" cy="25603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200" b="1">
                <a:solidFill>
                  <a:srgbClr val="A6B6C7"/>
                </a:solidFill>
                <a:latin typeface="Aptos"/>
              </a:defRPr>
            </a:pPr>
            <a:r>
              <a:t>MACRO PRECISION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01384" y="1810512"/>
            <a:ext cx="2313432" cy="48463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2700" b="1">
                <a:solidFill>
                  <a:srgbClr val="6ACDCB"/>
                </a:solidFill>
                <a:latin typeface="Aptos"/>
              </a:defRPr>
            </a:pPr>
            <a:r>
              <a:t>38.01%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01384" y="2350008"/>
            <a:ext cx="2313432" cy="18288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900" b="0">
                <a:solidFill>
                  <a:srgbClr val="A6B6C7"/>
                </a:solidFill>
                <a:latin typeface="Aptos"/>
              </a:defRPr>
            </a:pPr>
            <a:r>
              <a:t>Equal class weighting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89720" y="1417320"/>
            <a:ext cx="2286000" cy="1234440"/>
          </a:xfrm>
          <a:prstGeom prst="roundRect">
            <a:avLst/>
          </a:prstGeom>
          <a:solidFill>
            <a:srgbClr val="19263D"/>
          </a:solidFill>
          <a:ln>
            <a:solidFill>
              <a:srgbClr val="3348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36024" y="1536192"/>
            <a:ext cx="1993392" cy="25603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200" b="1">
                <a:solidFill>
                  <a:srgbClr val="A6B6C7"/>
                </a:solidFill>
                <a:latin typeface="Aptos"/>
              </a:defRPr>
            </a:pPr>
            <a:r>
              <a:t>MACRO RECALL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36024" y="1810512"/>
            <a:ext cx="1993392" cy="48463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2700" b="1">
                <a:solidFill>
                  <a:srgbClr val="6ACDCB"/>
                </a:solidFill>
                <a:latin typeface="Aptos"/>
              </a:defRPr>
            </a:pPr>
            <a:r>
              <a:t>50.53%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36024" y="2350008"/>
            <a:ext cx="1993392" cy="18288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900" b="0">
                <a:solidFill>
                  <a:srgbClr val="A6B6C7"/>
                </a:solidFill>
                <a:latin typeface="Aptos"/>
              </a:defRPr>
            </a:pPr>
            <a:r>
              <a:t>Equal class weighting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160520" y="3246120"/>
            <a:ext cx="3200400" cy="1234440"/>
          </a:xfrm>
          <a:prstGeom prst="roundRect">
            <a:avLst/>
          </a:prstGeom>
          <a:solidFill>
            <a:srgbClr val="19263D"/>
          </a:solidFill>
          <a:ln>
            <a:solidFill>
              <a:srgbClr val="3348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306824" y="3364991"/>
            <a:ext cx="2907792" cy="25603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200" b="1">
                <a:solidFill>
                  <a:srgbClr val="A6B6C7"/>
                </a:solidFill>
                <a:latin typeface="Aptos"/>
              </a:defRPr>
            </a:pPr>
            <a:r>
              <a:t>MACRO F1-SCORE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06824" y="3639312"/>
            <a:ext cx="2907792" cy="48463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2700" b="1">
                <a:solidFill>
                  <a:srgbClr val="6ACDCB"/>
                </a:solidFill>
                <a:latin typeface="Aptos"/>
              </a:defRPr>
            </a:pPr>
            <a:r>
              <a:t>40.89%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06824" y="4178808"/>
            <a:ext cx="2907792" cy="18288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900" b="0">
                <a:solidFill>
                  <a:srgbClr val="A6B6C7"/>
                </a:solidFill>
                <a:latin typeface="Aptos"/>
              </a:defRPr>
            </a:pPr>
            <a:r>
              <a:t>Harmonic mean of precision and recall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" y="5074920"/>
            <a:ext cx="10332720" cy="82296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600" b="0">
                <a:solidFill>
                  <a:srgbClr val="E0E9F2"/>
                </a:solidFill>
                <a:latin typeface="Aptos"/>
              </a:defRPr>
            </a:pPr>
            <a:r>
              <a:t>Interpretation: the overall validation accuracy is 56.65%, while macro F1 is 40.89%. The gap indicates that performance is uneven across the seven categories, so accuracy alone does not describe class-wise behaviour.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B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475488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2700" b="1">
                <a:solidFill>
                  <a:srgbClr val="F8FAFC"/>
                </a:solidFill>
                <a:latin typeface="Aptos"/>
              </a:defRPr>
            </a:pPr>
            <a:r>
              <a:t>Class-wise Validation Performance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832104"/>
            <a:ext cx="777240" cy="50292"/>
          </a:xfrm>
          <a:prstGeom prst="rect">
            <a:avLst/>
          </a:prstGeom>
          <a:solidFill>
            <a:srgbClr val="20A1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17320" y="749808"/>
            <a:ext cx="9875520" cy="22860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000" b="0">
                <a:solidFill>
                  <a:srgbClr val="A6B6C7"/>
                </a:solidFill>
                <a:latin typeface="Aptos"/>
              </a:defRPr>
            </a:pPr>
            <a:r>
              <a:t>Per-class precision, recall, F1-score and support from metrics.json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510528"/>
            <a:ext cx="411480" cy="18288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r">
              <a:defRPr sz="900" b="0">
                <a:solidFill>
                  <a:srgbClr val="A6B6C7"/>
                </a:solidFill>
                <a:latin typeface="Aptos"/>
              </a:defRPr>
            </a:pPr>
            <a:r>
              <a:t>9</a:t>
            </a:r>
          </a:p>
        </p:txBody>
      </p:sp>
      <p:pic>
        <p:nvPicPr>
          <p:cNvPr id="6" name="Picture 5" descr="skinsight_class_f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234440"/>
            <a:ext cx="5303520" cy="2329953"/>
          </a:xfrm>
          <a:prstGeom prst="rect">
            <a:avLst/>
          </a:prstGeom>
        </p:spPr>
      </p:pic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080760" y="1325880"/>
          <a:ext cx="489204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1051560"/>
                <a:gridCol w="960120"/>
                <a:gridCol w="960120"/>
                <a:gridCol w="914400"/>
              </a:tblGrid>
              <a:tr h="56007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8FAFC"/>
                          </a:solidFill>
                          <a:latin typeface="Aptos"/>
                        </a:defRPr>
                      </a:pPr>
                      <a:r>
                        <a:t>Class</a:t>
                      </a:r>
                    </a:p>
                  </a:txBody>
                  <a:tcPr marL="45720" marR="36576" marT="36576" marB="36576">
                    <a:solidFill>
                      <a:srgbClr val="20A19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8FAFC"/>
                          </a:solidFill>
                          <a:latin typeface="Aptos"/>
                        </a:defRPr>
                      </a:pPr>
                      <a:r>
                        <a:t>Precision</a:t>
                      </a:r>
                    </a:p>
                  </a:txBody>
                  <a:tcPr marL="45720" marR="36576" marT="36576" marB="36576">
                    <a:solidFill>
                      <a:srgbClr val="20A19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8FAFC"/>
                          </a:solidFill>
                          <a:latin typeface="Aptos"/>
                        </a:defRPr>
                      </a:pPr>
                      <a:r>
                        <a:t>Recall</a:t>
                      </a:r>
                    </a:p>
                  </a:txBody>
                  <a:tcPr marL="45720" marR="36576" marT="36576" marB="36576">
                    <a:solidFill>
                      <a:srgbClr val="20A19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8FAFC"/>
                          </a:solidFill>
                          <a:latin typeface="Aptos"/>
                        </a:defRPr>
                      </a:pPr>
                      <a:r>
                        <a:t>F1-score</a:t>
                      </a:r>
                    </a:p>
                  </a:txBody>
                  <a:tcPr marL="45720" marR="36576" marT="36576" marB="36576">
                    <a:solidFill>
                      <a:srgbClr val="20A19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8FAFC"/>
                          </a:solidFill>
                          <a:latin typeface="Aptos"/>
                        </a:defRPr>
                      </a:pPr>
                      <a:r>
                        <a:t>Support</a:t>
                      </a:r>
                    </a:p>
                  </a:txBody>
                  <a:tcPr marL="45720" marR="36576" marT="36576" marB="36576">
                    <a:solidFill>
                      <a:srgbClr val="20A19D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8FAFC"/>
                          </a:solidFill>
                          <a:latin typeface="Aptos"/>
                        </a:defRPr>
                      </a:pPr>
                      <a:r>
                        <a:t>AKIEC</a:t>
                      </a:r>
                    </a:p>
                  </a:txBody>
                  <a:tcPr marL="45720" marR="36576" marT="36576" marB="36576">
                    <a:solidFill>
                      <a:srgbClr val="1926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8FAFC"/>
                          </a:solidFill>
                          <a:latin typeface="Aptos"/>
                        </a:defRPr>
                      </a:pPr>
                      <a:r>
                        <a:t>31.5%</a:t>
                      </a:r>
                    </a:p>
                  </a:txBody>
                  <a:tcPr marL="45720" marR="36576" marT="36576" marB="36576">
                    <a:solidFill>
                      <a:srgbClr val="1926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8FAFC"/>
                          </a:solidFill>
                          <a:latin typeface="Aptos"/>
                        </a:defRPr>
                      </a:pPr>
                      <a:r>
                        <a:t>42.6%</a:t>
                      </a:r>
                    </a:p>
                  </a:txBody>
                  <a:tcPr marL="45720" marR="36576" marT="36576" marB="36576">
                    <a:solidFill>
                      <a:srgbClr val="1926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8FAFC"/>
                          </a:solidFill>
                          <a:latin typeface="Aptos"/>
                        </a:defRPr>
                      </a:pPr>
                      <a:r>
                        <a:t>36.2%</a:t>
                      </a:r>
                    </a:p>
                  </a:txBody>
                  <a:tcPr marL="45720" marR="36576" marT="36576" marB="36576">
                    <a:solidFill>
                      <a:srgbClr val="1926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8FAFC"/>
                          </a:solidFill>
                          <a:latin typeface="Aptos"/>
                        </a:defRPr>
                      </a:pPr>
                      <a:r>
                        <a:t>68</a:t>
                      </a:r>
                    </a:p>
                  </a:txBody>
                  <a:tcPr marL="45720" marR="36576" marT="36576" marB="36576">
                    <a:solidFill>
                      <a:srgbClr val="19263D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8FAFC"/>
                          </a:solidFill>
                          <a:latin typeface="Aptos"/>
                        </a:defRPr>
                      </a:pPr>
                      <a:r>
                        <a:t>BCC</a:t>
                      </a:r>
                    </a:p>
                  </a:txBody>
                  <a:tcPr marL="45720" marR="36576" marT="36576" marB="36576">
                    <a:solidFill>
                      <a:srgbClr val="1926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8FAFC"/>
                          </a:solidFill>
                          <a:latin typeface="Aptos"/>
                        </a:defRPr>
                      </a:pPr>
                      <a:r>
                        <a:t>41.9%</a:t>
                      </a:r>
                    </a:p>
                  </a:txBody>
                  <a:tcPr marL="45720" marR="36576" marT="36576" marB="36576">
                    <a:solidFill>
                      <a:srgbClr val="1926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8FAFC"/>
                          </a:solidFill>
                          <a:latin typeface="Aptos"/>
                        </a:defRPr>
                      </a:pPr>
                      <a:r>
                        <a:t>54.0%</a:t>
                      </a:r>
                    </a:p>
                  </a:txBody>
                  <a:tcPr marL="45720" marR="36576" marT="36576" marB="36576">
                    <a:solidFill>
                      <a:srgbClr val="1926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8FAFC"/>
                          </a:solidFill>
                          <a:latin typeface="Aptos"/>
                        </a:defRPr>
                      </a:pPr>
                      <a:r>
                        <a:t>47.2%</a:t>
                      </a:r>
                    </a:p>
                  </a:txBody>
                  <a:tcPr marL="45720" marR="36576" marT="36576" marB="36576">
                    <a:solidFill>
                      <a:srgbClr val="1926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8FAFC"/>
                          </a:solidFill>
                          <a:latin typeface="Aptos"/>
                        </a:defRPr>
                      </a:pPr>
                      <a:r>
                        <a:t>100</a:t>
                      </a:r>
                    </a:p>
                  </a:txBody>
                  <a:tcPr marL="45720" marR="36576" marT="36576" marB="36576">
                    <a:solidFill>
                      <a:srgbClr val="19263D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8FAFC"/>
                          </a:solidFill>
                          <a:latin typeface="Aptos"/>
                        </a:defRPr>
                      </a:pPr>
                      <a:r>
                        <a:t>BKL</a:t>
                      </a:r>
                    </a:p>
                  </a:txBody>
                  <a:tcPr marL="45720" marR="36576" marT="36576" marB="36576">
                    <a:solidFill>
                      <a:srgbClr val="1926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8FAFC"/>
                          </a:solidFill>
                          <a:latin typeface="Aptos"/>
                        </a:defRPr>
                      </a:pPr>
                      <a:r>
                        <a:t>32.7%</a:t>
                      </a:r>
                    </a:p>
                  </a:txBody>
                  <a:tcPr marL="45720" marR="36576" marT="36576" marB="36576">
                    <a:solidFill>
                      <a:srgbClr val="1926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8FAFC"/>
                          </a:solidFill>
                          <a:latin typeface="Aptos"/>
                        </a:defRPr>
                      </a:pPr>
                      <a:r>
                        <a:t>51.2%</a:t>
                      </a:r>
                    </a:p>
                  </a:txBody>
                  <a:tcPr marL="45720" marR="36576" marT="36576" marB="36576">
                    <a:solidFill>
                      <a:srgbClr val="1926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8FAFC"/>
                          </a:solidFill>
                          <a:latin typeface="Aptos"/>
                        </a:defRPr>
                      </a:pPr>
                      <a:r>
                        <a:t>39.9%</a:t>
                      </a:r>
                    </a:p>
                  </a:txBody>
                  <a:tcPr marL="45720" marR="36576" marT="36576" marB="36576">
                    <a:solidFill>
                      <a:srgbClr val="1926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8FAFC"/>
                          </a:solidFill>
                          <a:latin typeface="Aptos"/>
                        </a:defRPr>
                      </a:pPr>
                      <a:r>
                        <a:t>205</a:t>
                      </a:r>
                    </a:p>
                  </a:txBody>
                  <a:tcPr marL="45720" marR="36576" marT="36576" marB="36576">
                    <a:solidFill>
                      <a:srgbClr val="19263D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8FAFC"/>
                          </a:solidFill>
                          <a:latin typeface="Aptos"/>
                        </a:defRPr>
                      </a:pPr>
                      <a:r>
                        <a:t>DF</a:t>
                      </a:r>
                    </a:p>
                  </a:txBody>
                  <a:tcPr marL="45720" marR="36576" marT="36576" marB="36576">
                    <a:solidFill>
                      <a:srgbClr val="1926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8FAFC"/>
                          </a:solidFill>
                          <a:latin typeface="Aptos"/>
                        </a:defRPr>
                      </a:pPr>
                      <a:r>
                        <a:t>2.8%</a:t>
                      </a:r>
                    </a:p>
                  </a:txBody>
                  <a:tcPr marL="45720" marR="36576" marT="36576" marB="36576">
                    <a:solidFill>
                      <a:srgbClr val="1926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8FAFC"/>
                          </a:solidFill>
                          <a:latin typeface="Aptos"/>
                        </a:defRPr>
                      </a:pPr>
                      <a:r>
                        <a:t>13.6%</a:t>
                      </a:r>
                    </a:p>
                  </a:txBody>
                  <a:tcPr marL="45720" marR="36576" marT="36576" marB="36576">
                    <a:solidFill>
                      <a:srgbClr val="1926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8FAFC"/>
                          </a:solidFill>
                          <a:latin typeface="Aptos"/>
                        </a:defRPr>
                      </a:pPr>
                      <a:r>
                        <a:t>4.6%</a:t>
                      </a:r>
                    </a:p>
                  </a:txBody>
                  <a:tcPr marL="45720" marR="36576" marT="36576" marB="36576">
                    <a:solidFill>
                      <a:srgbClr val="1926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8FAFC"/>
                          </a:solidFill>
                          <a:latin typeface="Aptos"/>
                        </a:defRPr>
                      </a:pPr>
                      <a:r>
                        <a:t>22</a:t>
                      </a:r>
                    </a:p>
                  </a:txBody>
                  <a:tcPr marL="45720" marR="36576" marT="36576" marB="36576">
                    <a:solidFill>
                      <a:srgbClr val="19263D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8FAFC"/>
                          </a:solidFill>
                          <a:latin typeface="Aptos"/>
                        </a:defRPr>
                      </a:pPr>
                      <a:r>
                        <a:t>MEL</a:t>
                      </a:r>
                    </a:p>
                  </a:txBody>
                  <a:tcPr marL="45720" marR="36576" marT="36576" marB="36576">
                    <a:solidFill>
                      <a:srgbClr val="1926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8FAFC"/>
                          </a:solidFill>
                          <a:latin typeface="Aptos"/>
                        </a:defRPr>
                      </a:pPr>
                      <a:r>
                        <a:t>26.2%</a:t>
                      </a:r>
                    </a:p>
                  </a:txBody>
                  <a:tcPr marL="45720" marR="36576" marT="36576" marB="36576">
                    <a:solidFill>
                      <a:srgbClr val="1926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8FAFC"/>
                          </a:solidFill>
                          <a:latin typeface="Aptos"/>
                        </a:defRPr>
                      </a:pPr>
                      <a:r>
                        <a:t>50.5%</a:t>
                      </a:r>
                    </a:p>
                  </a:txBody>
                  <a:tcPr marL="45720" marR="36576" marT="36576" marB="36576">
                    <a:solidFill>
                      <a:srgbClr val="1926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8FAFC"/>
                          </a:solidFill>
                          <a:latin typeface="Aptos"/>
                        </a:defRPr>
                      </a:pPr>
                      <a:r>
                        <a:t>34.5%</a:t>
                      </a:r>
                    </a:p>
                  </a:txBody>
                  <a:tcPr marL="45720" marR="36576" marT="36576" marB="36576">
                    <a:solidFill>
                      <a:srgbClr val="1926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8FAFC"/>
                          </a:solidFill>
                          <a:latin typeface="Aptos"/>
                        </a:defRPr>
                      </a:pPr>
                      <a:r>
                        <a:t>222</a:t>
                      </a:r>
                    </a:p>
                  </a:txBody>
                  <a:tcPr marL="45720" marR="36576" marT="36576" marB="36576">
                    <a:solidFill>
                      <a:srgbClr val="19263D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8FAFC"/>
                          </a:solidFill>
                          <a:latin typeface="Aptos"/>
                        </a:defRPr>
                      </a:pPr>
                      <a:r>
                        <a:t>NV</a:t>
                      </a:r>
                    </a:p>
                  </a:txBody>
                  <a:tcPr marL="45720" marR="36576" marT="36576" marB="36576">
                    <a:solidFill>
                      <a:srgbClr val="1926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8FAFC"/>
                          </a:solidFill>
                          <a:latin typeface="Aptos"/>
                        </a:defRPr>
                      </a:pPr>
                      <a:r>
                        <a:t>94.2%</a:t>
                      </a:r>
                    </a:p>
                  </a:txBody>
                  <a:tcPr marL="45720" marR="36576" marT="36576" marB="36576">
                    <a:solidFill>
                      <a:srgbClr val="1926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8FAFC"/>
                          </a:solidFill>
                          <a:latin typeface="Aptos"/>
                        </a:defRPr>
                      </a:pPr>
                      <a:r>
                        <a:t>59.4%</a:t>
                      </a:r>
                    </a:p>
                  </a:txBody>
                  <a:tcPr marL="45720" marR="36576" marT="36576" marB="36576">
                    <a:solidFill>
                      <a:srgbClr val="1926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8FAFC"/>
                          </a:solidFill>
                          <a:latin typeface="Aptos"/>
                        </a:defRPr>
                      </a:pPr>
                      <a:r>
                        <a:t>72.9%</a:t>
                      </a:r>
                    </a:p>
                  </a:txBody>
                  <a:tcPr marL="45720" marR="36576" marT="36576" marB="36576">
                    <a:solidFill>
                      <a:srgbClr val="1926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8FAFC"/>
                          </a:solidFill>
                          <a:latin typeface="Aptos"/>
                        </a:defRPr>
                      </a:pPr>
                      <a:r>
                        <a:t>1363</a:t>
                      </a:r>
                    </a:p>
                  </a:txBody>
                  <a:tcPr marL="45720" marR="36576" marT="36576" marB="36576">
                    <a:solidFill>
                      <a:srgbClr val="19263D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8FAFC"/>
                          </a:solidFill>
                          <a:latin typeface="Aptos"/>
                        </a:defRPr>
                      </a:pPr>
                      <a:r>
                        <a:t>VASC</a:t>
                      </a:r>
                    </a:p>
                  </a:txBody>
                  <a:tcPr marL="45720" marR="36576" marT="36576" marB="36576">
                    <a:solidFill>
                      <a:srgbClr val="1926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8FAFC"/>
                          </a:solidFill>
                          <a:latin typeface="Aptos"/>
                        </a:defRPr>
                      </a:pPr>
                      <a:r>
                        <a:t>36.8%</a:t>
                      </a:r>
                    </a:p>
                  </a:txBody>
                  <a:tcPr marL="45720" marR="36576" marT="36576" marB="36576">
                    <a:solidFill>
                      <a:srgbClr val="1926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8FAFC"/>
                          </a:solidFill>
                          <a:latin typeface="Aptos"/>
                        </a:defRPr>
                      </a:pPr>
                      <a:r>
                        <a:t>82.4%</a:t>
                      </a:r>
                    </a:p>
                  </a:txBody>
                  <a:tcPr marL="45720" marR="36576" marT="36576" marB="36576">
                    <a:solidFill>
                      <a:srgbClr val="1926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8FAFC"/>
                          </a:solidFill>
                          <a:latin typeface="Aptos"/>
                        </a:defRPr>
                      </a:pPr>
                      <a:r>
                        <a:t>50.9%</a:t>
                      </a:r>
                    </a:p>
                  </a:txBody>
                  <a:tcPr marL="45720" marR="36576" marT="36576" marB="36576">
                    <a:solidFill>
                      <a:srgbClr val="1926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8FAFC"/>
                          </a:solidFill>
                          <a:latin typeface="Aptos"/>
                        </a:defRPr>
                      </a:pPr>
                      <a:r>
                        <a:t>34</a:t>
                      </a:r>
                    </a:p>
                  </a:txBody>
                  <a:tcPr marL="45720" marR="36576" marT="36576" marB="36576">
                    <a:solidFill>
                      <a:srgbClr val="19263D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822960" y="5715000"/>
            <a:ext cx="10607040" cy="41148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200" b="1">
                <a:solidFill>
                  <a:srgbClr val="F2A54B"/>
                </a:solidFill>
                <a:latin typeface="Aptos"/>
              </a:defRPr>
            </a:pPr>
            <a:r>
              <a:t>NV has the highest F1-score (72.9%); DF is the weakest class (4.6% F1) and has only 22 validation examples.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B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475488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2700" b="1">
                <a:solidFill>
                  <a:srgbClr val="F8FAFC"/>
                </a:solidFill>
                <a:latin typeface="Aptos"/>
              </a:defRPr>
            </a:pPr>
            <a:r>
              <a:t>Streamlit Application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832104"/>
            <a:ext cx="777240" cy="50292"/>
          </a:xfrm>
          <a:prstGeom prst="rect">
            <a:avLst/>
          </a:prstGeom>
          <a:solidFill>
            <a:srgbClr val="20A1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17320" y="749808"/>
            <a:ext cx="9875520" cy="22860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000" b="0">
                <a:solidFill>
                  <a:srgbClr val="A6B6C7"/>
                </a:solidFill>
                <a:latin typeface="Aptos"/>
              </a:defRPr>
            </a:pPr>
            <a:r>
              <a:t>Current application interface screenshot supplied for the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510528"/>
            <a:ext cx="411480" cy="18288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r">
              <a:defRPr sz="900" b="0">
                <a:solidFill>
                  <a:srgbClr val="A6B6C7"/>
                </a:solidFill>
                <a:latin typeface="Aptos"/>
              </a:defRPr>
            </a:pPr>
            <a:r>
              <a:t>10</a:t>
            </a:r>
          </a:p>
        </p:txBody>
      </p:sp>
      <p:pic>
        <p:nvPicPr>
          <p:cNvPr id="6" name="Picture 5" descr="Screenshot 2026-10-30 1708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143000"/>
            <a:ext cx="10972800" cy="497293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6263640"/>
            <a:ext cx="10698480" cy="22860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000" b="0">
                <a:solidFill>
                  <a:srgbClr val="A6B6C7"/>
                </a:solidFill>
                <a:latin typeface="Aptos"/>
              </a:defRPr>
            </a:pPr>
            <a:r>
              <a:t>Interface includes project information, image upload, classification panel and medical-use disclaimer.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B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475488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2700" b="1">
                <a:solidFill>
                  <a:srgbClr val="F8FAFC"/>
                </a:solidFill>
                <a:latin typeface="Aptos"/>
              </a:defRPr>
            </a:pPr>
            <a:r>
              <a:t>Deployment Debugging: Streamlit NameError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832104"/>
            <a:ext cx="777240" cy="50292"/>
          </a:xfrm>
          <a:prstGeom prst="rect">
            <a:avLst/>
          </a:prstGeom>
          <a:solidFill>
            <a:srgbClr val="20A1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17320" y="749808"/>
            <a:ext cx="9875520" cy="22860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000" b="0">
                <a:solidFill>
                  <a:srgbClr val="A6B6C7"/>
                </a:solidFill>
                <a:latin typeface="Aptos"/>
              </a:defRPr>
            </a:pPr>
            <a:r>
              <a:t>Issue observed after committing the updated app.py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510528"/>
            <a:ext cx="411480" cy="18288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r">
              <a:defRPr sz="900" b="0">
                <a:solidFill>
                  <a:srgbClr val="A6B6C7"/>
                </a:solidFill>
                <a:latin typeface="Aptos"/>
              </a:defRPr>
            </a:pPr>
            <a:r>
              <a:t>11</a:t>
            </a:r>
          </a:p>
        </p:txBody>
      </p:sp>
      <p:pic>
        <p:nvPicPr>
          <p:cNvPr id="6" name="Picture 5" descr="image(20261031-195341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325880"/>
            <a:ext cx="5212080" cy="193650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172200" y="1325880"/>
            <a:ext cx="5212080" cy="41148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800" b="1">
                <a:solidFill>
                  <a:srgbClr val="F2A54B"/>
                </a:solidFill>
                <a:latin typeface="Aptos"/>
              </a:defRPr>
            </a:pPr>
            <a:r>
              <a:t>ROOT CAUSE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72200" y="1783080"/>
            <a:ext cx="5212080" cy="9601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500" b="0">
                <a:solidFill>
                  <a:srgbClr val="F8FAFC"/>
                </a:solidFill>
                <a:latin typeface="Aptos"/>
              </a:defRPr>
            </a:pPr>
            <a:r>
              <a:t>The traceback points to line 1: st.sidebar.markdown(...). The sidebar snippet was placed before `import streamlit as st`, so `st` did not yet exist.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72200" y="2971800"/>
            <a:ext cx="5212080" cy="41148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800" b="1">
                <a:solidFill>
                  <a:srgbClr val="6ACDCB"/>
                </a:solidFill>
                <a:latin typeface="Aptos"/>
              </a:defRPr>
            </a:pPr>
            <a:r>
              <a:t>CORRECT PLACEMENT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72200" y="3429000"/>
            <a:ext cx="5212080" cy="155448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500" b="0">
                <a:solidFill>
                  <a:srgbClr val="F8FAFC"/>
                </a:solidFill>
                <a:latin typeface="Aptos"/>
              </a:defRPr>
            </a:pPr>
            <a:r>
              <a:t>Keep all imports at the top. Add the Project Resources block inside the existing SIDEBAR section, after the sidebar model/framework details—not at the beginning of app.py.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532120"/>
            <a:ext cx="10515600" cy="45720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400" b="1">
                <a:solidFill>
                  <a:srgbClr val="20A19D"/>
                </a:solidFill>
                <a:latin typeface="Aptos"/>
              </a:defRPr>
            </a:pPr>
            <a:r>
              <a:t>This is a code-order / placement error, not evidence of a failed model training run.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B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475488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2700" b="1">
                <a:solidFill>
                  <a:srgbClr val="F8FAFC"/>
                </a:solidFill>
                <a:latin typeface="Aptos"/>
              </a:defRPr>
            </a:pPr>
            <a:r>
              <a:t>Correct Project Resources Block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832104"/>
            <a:ext cx="777240" cy="50292"/>
          </a:xfrm>
          <a:prstGeom prst="rect">
            <a:avLst/>
          </a:prstGeom>
          <a:solidFill>
            <a:srgbClr val="20A1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17320" y="749808"/>
            <a:ext cx="9875520" cy="22860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000" b="0">
                <a:solidFill>
                  <a:srgbClr val="A6B6C7"/>
                </a:solidFill>
                <a:latin typeface="Aptos"/>
              </a:defRPr>
            </a:pPr>
            <a:r>
              <a:t>Paste this within the existing SIDEBAR section only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510528"/>
            <a:ext cx="411480" cy="18288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r">
              <a:defRPr sz="900" b="0">
                <a:solidFill>
                  <a:srgbClr val="A6B6C7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25880"/>
            <a:ext cx="10744200" cy="4069080"/>
          </a:xfrm>
          <a:prstGeom prst="roundRect">
            <a:avLst/>
          </a:prstGeom>
          <a:solidFill>
            <a:srgbClr val="09101C"/>
          </a:solidFill>
          <a:ln>
            <a:solidFill>
              <a:srgbClr val="3750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600200"/>
            <a:ext cx="10241280" cy="356616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400" b="0">
                <a:solidFill>
                  <a:srgbClr val="6ACDCB"/>
                </a:solidFill>
                <a:latin typeface="Consolas"/>
              </a:defRPr>
            </a:pPr>
            <a:r>
              <a:t>st.sidebar.markdown("---")</a:t>
            </a:r>
            <a:br/>
            <a:r>
              <a:t>st.sidebar.subheader("📚 Project Resources")</a:t>
            </a:r>
            <a:br/>
            <a:r>
              <a:t>st.sidebar.markdown(</a:t>
            </a:r>
            <a:br/>
            <a:r>
              <a:t>    """</a:t>
            </a:r>
            <a:br/>
            <a:r>
              <a:t>    **📄 Project Report**</a:t>
            </a:r>
            <a:br/>
            <a:r>
              <a:t>    [Open Word Report](YOUR_WORD_DOC_LINK)</a:t>
            </a:r>
            <a:br/>
            <a:br/>
            <a:r>
              <a:t>    **📊 Project Presentation**</a:t>
            </a:r>
            <a:br/>
            <a:r>
              <a:t>    [View PPT Slides](YOUR_PPT_LINK)</a:t>
            </a:r>
            <a:br/>
            <a:br/>
            <a:r>
              <a:t>    **💻 GitHub Repository**</a:t>
            </a:r>
            <a:br/>
            <a:r>
              <a:t>    [View Source Code](YOUR_GITHUB_REPO_LINK)</a:t>
            </a:r>
            <a:br/>
            <a:r>
              <a:t>    """</a:t>
            </a:r>
            <a:br/>
            <a:r>
              <a:t>)</a:t>
            </a:r>
            <a:br/>
            <a:r>
              <a:t>st.sidebar.markdown("---")</a:t>
            </a:r>
            <a:br/>
            <a:r>
              <a:t>st.sidebar.caption("Developed as an Academic Deep Learning Project")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5715000"/>
            <a:ext cx="10424160" cy="41148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300" b="1">
                <a:solidFill>
                  <a:srgbClr val="F2A54B"/>
                </a:solidFill>
                <a:latin typeface="Aptos"/>
              </a:defRPr>
            </a:pPr>
            <a:r>
              <a:t>Replace the three placeholder URLs with shareable Word, PPT and GitHub links before committing.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B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475488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2700" b="1">
                <a:solidFill>
                  <a:srgbClr val="F8FAFC"/>
                </a:solidFill>
                <a:latin typeface="Aptos"/>
              </a:defRPr>
            </a:pPr>
            <a:r>
              <a:t>Limitations &amp; Future Enhancements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832104"/>
            <a:ext cx="777240" cy="50292"/>
          </a:xfrm>
          <a:prstGeom prst="rect">
            <a:avLst/>
          </a:prstGeom>
          <a:solidFill>
            <a:srgbClr val="20A1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17320" y="749808"/>
            <a:ext cx="9875520" cy="22860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000" b="0">
                <a:solidFill>
                  <a:srgbClr val="A6B6C7"/>
                </a:solidFill>
                <a:latin typeface="Aptos"/>
              </a:defRPr>
            </a:pPr>
            <a:r>
              <a:t>Responsible interpretation of the experimental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510528"/>
            <a:ext cx="411480" cy="18288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r">
              <a:defRPr sz="900" b="0">
                <a:solidFill>
                  <a:srgbClr val="A6B6C7"/>
                </a:solidFill>
                <a:latin typeface="Aptos"/>
              </a:defRPr>
            </a:pPr>
            <a:r>
              <a:t>13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234440"/>
            <a:ext cx="5257800" cy="2148840"/>
          </a:xfrm>
          <a:prstGeom prst="roundRect">
            <a:avLst/>
          </a:prstGeom>
          <a:solidFill>
            <a:srgbClr val="19263D"/>
          </a:solidFill>
          <a:ln>
            <a:solidFill>
              <a:srgbClr val="3348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234440"/>
            <a:ext cx="64008" cy="2148840"/>
          </a:xfrm>
          <a:prstGeom prst="rect">
            <a:avLst/>
          </a:prstGeom>
          <a:solidFill>
            <a:srgbClr val="F2A5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" y="1380744"/>
            <a:ext cx="4892040" cy="32004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700" b="1">
                <a:solidFill>
                  <a:srgbClr val="6ACDCB"/>
                </a:solidFill>
                <a:latin typeface="Aptos"/>
              </a:defRPr>
            </a:pPr>
            <a:r>
              <a:t>CURRENT LIMITATIONS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1801368"/>
            <a:ext cx="4873752" cy="1453896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300" b="0">
                <a:solidFill>
                  <a:srgbClr val="F8FAFC"/>
                </a:solidFill>
                <a:latin typeface="Aptos"/>
              </a:defRPr>
            </a:pPr>
            <a:r>
              <a:t>• Dermatoscopic images only; ordinary phone-photo performance is unknown.</a:t>
            </a:r>
            <a:br/>
            <a:r>
              <a:t>• Imbalanced classes lead to uneven performance.</a:t>
            </a:r>
            <a:br/>
            <a:r>
              <a:t>• Validation results do not establish clinical safety.</a:t>
            </a:r>
            <a:br/>
            <a:r>
              <a:t>• Softmax scores are not calibrated disease probabilities.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234440"/>
            <a:ext cx="5257800" cy="2148840"/>
          </a:xfrm>
          <a:prstGeom prst="roundRect">
            <a:avLst/>
          </a:prstGeom>
          <a:solidFill>
            <a:srgbClr val="19263D"/>
          </a:solidFill>
          <a:ln>
            <a:solidFill>
              <a:srgbClr val="3348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234440"/>
            <a:ext cx="64008" cy="2148840"/>
          </a:xfrm>
          <a:prstGeom prst="rect">
            <a:avLst/>
          </a:prstGeom>
          <a:solidFill>
            <a:srgbClr val="20A1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19088" y="1380744"/>
            <a:ext cx="4892040" cy="32004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700" b="1">
                <a:solidFill>
                  <a:srgbClr val="6ACDCB"/>
                </a:solidFill>
                <a:latin typeface="Aptos"/>
              </a:defRPr>
            </a:pPr>
            <a:r>
              <a:t>FUTURE WORK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19088" y="1801368"/>
            <a:ext cx="4873752" cy="1453896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300" b="0">
                <a:solidFill>
                  <a:srgbClr val="F8FAFC"/>
                </a:solidFill>
                <a:latin typeface="Aptos"/>
              </a:defRPr>
            </a:pPr>
            <a:r>
              <a:t>• Evaluate on an independent lesion/patient-level test set.</a:t>
            </a:r>
            <a:br/>
            <a:r>
              <a:t>• Investigate imbalance handling and alternative architectures.</a:t>
            </a:r>
            <a:br/>
            <a:r>
              <a:t>• Assess calibration and uncertainty.</a:t>
            </a:r>
            <a:br/>
            <a:r>
              <a:t>• Add explainability research and improve privacy guidance.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4069080"/>
            <a:ext cx="10515600" cy="41148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800" b="1">
                <a:solidFill>
                  <a:srgbClr val="6ACDCB"/>
                </a:solidFill>
                <a:latin typeface="Aptos"/>
              </a:defRPr>
            </a:pPr>
            <a:r>
              <a:t>Ethical boundary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526280"/>
            <a:ext cx="10424160" cy="105156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700" b="0">
                <a:solidFill>
                  <a:srgbClr val="F8FAFC"/>
                </a:solidFill>
                <a:latin typeface="Aptos"/>
              </a:defRPr>
            </a:pPr>
            <a:r>
              <a:t>SkinSight AI must not be used for self-diagnosis, treatment selection, triage or reassurance that a lesion is harmless. Medical evaluation should be provided by a qualified professional.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B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475488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2700" b="1">
                <a:solidFill>
                  <a:srgbClr val="F8FAFC"/>
                </a:solidFill>
                <a:latin typeface="Aptos"/>
              </a:defRPr>
            </a:pPr>
            <a:r>
              <a:t>Conclusion &amp; References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832104"/>
            <a:ext cx="777240" cy="50292"/>
          </a:xfrm>
          <a:prstGeom prst="rect">
            <a:avLst/>
          </a:prstGeom>
          <a:solidFill>
            <a:srgbClr val="20A1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17320" y="749808"/>
            <a:ext cx="9875520" cy="22860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000" b="0">
                <a:solidFill>
                  <a:srgbClr val="A6B6C7"/>
                </a:solidFill>
                <a:latin typeface="Aptos"/>
              </a:defRPr>
            </a:pPr>
            <a:r>
              <a:t>Project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510528"/>
            <a:ext cx="411480" cy="18288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r">
              <a:defRPr sz="900" b="0">
                <a:solidFill>
                  <a:srgbClr val="A6B6C7"/>
                </a:solidFill>
                <a:latin typeface="Aptos"/>
              </a:defRPr>
            </a:pPr>
            <a:r>
              <a:t>14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234440"/>
            <a:ext cx="5257800" cy="2286000"/>
          </a:xfrm>
          <a:prstGeom prst="roundRect">
            <a:avLst/>
          </a:prstGeom>
          <a:solidFill>
            <a:srgbClr val="19263D"/>
          </a:solidFill>
          <a:ln>
            <a:solidFill>
              <a:srgbClr val="3348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234440"/>
            <a:ext cx="64008" cy="2286000"/>
          </a:xfrm>
          <a:prstGeom prst="rect">
            <a:avLst/>
          </a:prstGeom>
          <a:solidFill>
            <a:srgbClr val="20A1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" y="1380744"/>
            <a:ext cx="4892040" cy="32004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700" b="1">
                <a:solidFill>
                  <a:srgbClr val="6ACDCB"/>
                </a:solidFill>
                <a:latin typeface="Aptos"/>
              </a:defRPr>
            </a:pPr>
            <a:r>
              <a:t>CONCLUSION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1801368"/>
            <a:ext cx="4873752" cy="1591056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400" b="0">
                <a:solidFill>
                  <a:srgbClr val="F8FAFC"/>
                </a:solidFill>
                <a:latin typeface="Aptos"/>
              </a:defRPr>
            </a:pPr>
            <a:r>
              <a:t>SkinSight AI combines HAM10000 data preparation, lesion-grouped validation, MobileNetV2 transfer learning, model evaluation and a Streamlit demonstration. The observed validation accuracy is 56.65% and macro F1 is 40.89%, showing that further class-wise improvement and independent validation are needed.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63640" y="1280160"/>
            <a:ext cx="4937760" cy="36576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800" b="1">
                <a:solidFill>
                  <a:srgbClr val="6ACDCB"/>
                </a:solidFill>
                <a:latin typeface="Aptos"/>
              </a:defRPr>
            </a:pPr>
            <a:r>
              <a:t>KEY REFERENCES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63640" y="1783080"/>
            <a:ext cx="5074920" cy="3566160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1200"/>
              </a:spcAft>
              <a:defRPr sz="1300">
                <a:solidFill>
                  <a:srgbClr val="F8FAFC"/>
                </a:solidFill>
                <a:latin typeface="Aptos"/>
              </a:defRPr>
            </a:pPr>
            <a:r>
              <a:t>•  Tschandl, Rosendahl &amp; Kittler (2018), HAM10000 dataset, Scientific Data, 5, 180161.</a:t>
            </a:r>
          </a:p>
          <a:p>
            <a:pPr>
              <a:spcAft>
                <a:spcPts val="1200"/>
              </a:spcAft>
              <a:defRPr sz="1300">
                <a:solidFill>
                  <a:srgbClr val="F8FAFC"/>
                </a:solidFill>
                <a:latin typeface="Aptos"/>
              </a:defRPr>
            </a:pPr>
            <a:r>
              <a:t>•  Sandler et al. (2018), MobileNetV2: Inverted Residuals and Linear Bottlenecks, CVPR.</a:t>
            </a:r>
          </a:p>
          <a:p>
            <a:pPr>
              <a:spcAft>
                <a:spcPts val="1200"/>
              </a:spcAft>
              <a:defRPr sz="1300">
                <a:solidFill>
                  <a:srgbClr val="F8FAFC"/>
                </a:solidFill>
                <a:latin typeface="Aptos"/>
              </a:defRPr>
            </a:pPr>
            <a:r>
              <a:t>•  HAM10000 dataset: kaggle.com/datasets/kmader/skin-cancer-mnist-ham10000</a:t>
            </a:r>
          </a:p>
          <a:p>
            <a:pPr>
              <a:spcAft>
                <a:spcPts val="1200"/>
              </a:spcAft>
              <a:defRPr sz="1300">
                <a:solidFill>
                  <a:srgbClr val="F8FAFC"/>
                </a:solidFill>
                <a:latin typeface="Aptos"/>
              </a:defRPr>
            </a:pPr>
            <a:r>
              <a:t>•  TensorFlow: tensorflow.org</a:t>
            </a:r>
          </a:p>
          <a:p>
            <a:pPr>
              <a:spcAft>
                <a:spcPts val="1200"/>
              </a:spcAft>
              <a:defRPr sz="1300">
                <a:solidFill>
                  <a:srgbClr val="F8FAFC"/>
                </a:solidFill>
                <a:latin typeface="Aptos"/>
              </a:defRPr>
            </a:pPr>
            <a:r>
              <a:t>•  Streamlit: docs.streamlit.io</a:t>
            </a:r>
          </a:p>
          <a:p>
            <a:pPr>
              <a:spcAft>
                <a:spcPts val="1200"/>
              </a:spcAft>
              <a:defRPr sz="1300">
                <a:solidFill>
                  <a:srgbClr val="F8FAFC"/>
                </a:solidFill>
                <a:latin typeface="Aptos"/>
              </a:defRPr>
            </a:pPr>
            <a:r>
              <a:t>•  scikit-learn: scikit-learn.org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5989320"/>
            <a:ext cx="10515600" cy="32004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>
              <a:defRPr sz="2000" b="1">
                <a:solidFill>
                  <a:srgbClr val="20A19D"/>
                </a:solidFill>
                <a:latin typeface="Aptos"/>
              </a:defRPr>
            </a:pPr>
            <a: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